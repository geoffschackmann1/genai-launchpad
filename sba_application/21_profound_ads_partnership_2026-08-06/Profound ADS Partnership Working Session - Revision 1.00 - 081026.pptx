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8e1ff5268e446e" /><Relationship Type="http://schemas.openxmlformats.org/officeDocument/2006/relationships/extended-properties" Target="/docProps/app.xml" Id="R56013ad901704a53" /><Relationship Type="http://schemas.openxmlformats.org/officeDocument/2006/relationships/officeDocument" Target="/ppt/presentation.xml" Id="R72a67316c53f43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100cbac50641e7"/>
  </p:sldMasterIdLst>
  <p:notesMasterIdLst>
    <p:notesMasterId xmlns:r="http://schemas.openxmlformats.org/officeDocument/2006/relationships" r:id="R428b1a547e6340d3"/>
  </p:notesMasterIdLst>
  <p:sldIdLst>
    <p:sldId xmlns:r="http://schemas.openxmlformats.org/officeDocument/2006/relationships" id="256" r:id="Rb90c61eae4a14033"/>
    <p:sldId xmlns:r="http://schemas.openxmlformats.org/officeDocument/2006/relationships" id="257" r:id="Refd6ff87e32a49b0"/>
    <p:sldId xmlns:r="http://schemas.openxmlformats.org/officeDocument/2006/relationships" id="258" r:id="R3d9b3e0bf4c54876"/>
    <p:sldId xmlns:r="http://schemas.openxmlformats.org/officeDocument/2006/relationships" id="259" r:id="Rf274cf484cd242ee"/>
    <p:sldId xmlns:r="http://schemas.openxmlformats.org/officeDocument/2006/relationships" id="260" r:id="Rbf9b7383a37445a2"/>
    <p:sldId xmlns:r="http://schemas.openxmlformats.org/officeDocument/2006/relationships" id="261" r:id="R31c1f0dfaaf04832"/>
    <p:sldId xmlns:r="http://schemas.openxmlformats.org/officeDocument/2006/relationships" id="262" r:id="Re4aecc0fd0834ec2"/>
    <p:sldId xmlns:r="http://schemas.openxmlformats.org/officeDocument/2006/relationships" id="263" r:id="R6df75394e7e84b04"/>
    <p:sldId xmlns:r="http://schemas.openxmlformats.org/officeDocument/2006/relationships" id="264" r:id="R0bc94dad4cb644a4"/>
    <p:sldId xmlns:r="http://schemas.openxmlformats.org/officeDocument/2006/relationships" id="265" r:id="Rac341822892a48ec"/>
    <p:sldId xmlns:r="http://schemas.openxmlformats.org/officeDocument/2006/relationships" id="266" r:id="R1c4ca62f376b4830"/>
    <p:sldId xmlns:r="http://schemas.openxmlformats.org/officeDocument/2006/relationships" id="267" r:id="R6cd67cf6b44a444a"/>
    <p:sldId xmlns:r="http://schemas.openxmlformats.org/officeDocument/2006/relationships" id="268" r:id="R5c18fbe39c194400"/>
    <p:sldId xmlns:r="http://schemas.openxmlformats.org/officeDocument/2006/relationships" id="269" r:id="Reabd8d33934a461a"/>
    <p:sldId xmlns:r="http://schemas.openxmlformats.org/officeDocument/2006/relationships" id="270" r:id="Rc6b56d95944c40f7"/>
    <p:sldId xmlns:r="http://schemas.openxmlformats.org/officeDocument/2006/relationships" id="271" r:id="R9da977b7f539423c"/>
    <p:sldId xmlns:r="http://schemas.openxmlformats.org/officeDocument/2006/relationships" id="272" r:id="Redd75ea4df4e422c"/>
    <p:sldId xmlns:r="http://schemas.openxmlformats.org/officeDocument/2006/relationships" id="273" r:id="Rc9755839bbbd4f02"/>
    <p:sldId xmlns:r="http://schemas.openxmlformats.org/officeDocument/2006/relationships" id="274" r:id="R62958d95eed34294"/>
    <p:sldId xmlns:r="http://schemas.openxmlformats.org/officeDocument/2006/relationships" id="275" r:id="Raeda8013d75342eb"/>
    <p:sldId xmlns:r="http://schemas.openxmlformats.org/officeDocument/2006/relationships" id="276" r:id="Ra64c1ea03e34449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a1dc3740e649da" /><Relationship Type="http://schemas.openxmlformats.org/officeDocument/2006/relationships/slideMaster" Target="/ppt/slideMasters/slideMaster1.xml" Id="R71100cbac50641e7" /><Relationship Type="http://schemas.openxmlformats.org/officeDocument/2006/relationships/notesMaster" Target="/ppt/notesMasters/notesMaster1.xml" Id="R428b1a547e6340d3" /><Relationship Type="http://schemas.openxmlformats.org/officeDocument/2006/relationships/presProps" Target="/ppt/presProps.xml" Id="R28100e78f18b45fa" /><Relationship Type="http://schemas.openxmlformats.org/officeDocument/2006/relationships/tableStyles" Target="/ppt/tableStyles.xml" Id="R375f010a27d0422b" /><Relationship Type="http://schemas.openxmlformats.org/officeDocument/2006/relationships/slide" Target="/ppt/slides/slide1.xml" Id="Rb90c61eae4a14033" /><Relationship Type="http://schemas.openxmlformats.org/officeDocument/2006/relationships/slide" Target="/ppt/slides/slide2.xml" Id="Refd6ff87e32a49b0" /><Relationship Type="http://schemas.openxmlformats.org/officeDocument/2006/relationships/slide" Target="/ppt/slides/slide3.xml" Id="R3d9b3e0bf4c54876" /><Relationship Type="http://schemas.openxmlformats.org/officeDocument/2006/relationships/slide" Target="/ppt/slides/slide4.xml" Id="Rf274cf484cd242ee" /><Relationship Type="http://schemas.openxmlformats.org/officeDocument/2006/relationships/slide" Target="/ppt/slides/slide5.xml" Id="Rbf9b7383a37445a2" /><Relationship Type="http://schemas.openxmlformats.org/officeDocument/2006/relationships/slide" Target="/ppt/slides/slide6.xml" Id="R31c1f0dfaaf04832" /><Relationship Type="http://schemas.openxmlformats.org/officeDocument/2006/relationships/slide" Target="/ppt/slides/slide7.xml" Id="Re4aecc0fd0834ec2" /><Relationship Type="http://schemas.openxmlformats.org/officeDocument/2006/relationships/slide" Target="/ppt/slides/slide8.xml" Id="R6df75394e7e84b04" /><Relationship Type="http://schemas.openxmlformats.org/officeDocument/2006/relationships/slide" Target="/ppt/slides/slide9.xml" Id="R0bc94dad4cb644a4" /><Relationship Type="http://schemas.openxmlformats.org/officeDocument/2006/relationships/slide" Target="/ppt/slides/slide10.xml" Id="Rac341822892a48ec" /><Relationship Type="http://schemas.openxmlformats.org/officeDocument/2006/relationships/slide" Target="/ppt/slides/slide11.xml" Id="R1c4ca62f376b4830" /><Relationship Type="http://schemas.openxmlformats.org/officeDocument/2006/relationships/slide" Target="/ppt/slides/slide12.xml" Id="R6cd67cf6b44a444a" /><Relationship Type="http://schemas.openxmlformats.org/officeDocument/2006/relationships/slide" Target="/ppt/slides/slide13.xml" Id="R5c18fbe39c194400" /><Relationship Type="http://schemas.openxmlformats.org/officeDocument/2006/relationships/slide" Target="/ppt/slides/slide14.xml" Id="Reabd8d33934a461a" /><Relationship Type="http://schemas.openxmlformats.org/officeDocument/2006/relationships/slide" Target="/ppt/slides/slide15.xml" Id="Rc6b56d95944c40f7" /><Relationship Type="http://schemas.openxmlformats.org/officeDocument/2006/relationships/slide" Target="/ppt/slides/slide16.xml" Id="R9da977b7f539423c" /><Relationship Type="http://schemas.openxmlformats.org/officeDocument/2006/relationships/slide" Target="/ppt/slides/slide17.xml" Id="Redd75ea4df4e422c" /><Relationship Type="http://schemas.openxmlformats.org/officeDocument/2006/relationships/slide" Target="/ppt/slides/slide18.xml" Id="Rc9755839bbbd4f02" /><Relationship Type="http://schemas.openxmlformats.org/officeDocument/2006/relationships/slide" Target="/ppt/slides/slide19.xml" Id="R62958d95eed34294" /><Relationship Type="http://schemas.openxmlformats.org/officeDocument/2006/relationships/slide" Target="/ppt/slides/slide20.xml" Id="Raeda8013d75342eb" /><Relationship Type="http://schemas.openxmlformats.org/officeDocument/2006/relationships/slide" Target="/ppt/slides/slide21.xml" Id="Ra64c1ea03e3444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6545f8b40c44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7b55cc62e54590" /><Relationship Type="http://schemas.openxmlformats.org/officeDocument/2006/relationships/notesMaster" Target="/ppt/notesMasters/notesMaster1.xml" Id="Rd4c974c204324e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83b34829a4474a" /><Relationship Type="http://schemas.openxmlformats.org/officeDocument/2006/relationships/notesMaster" Target="/ppt/notesMasters/notesMaster1.xml" Id="Rab4bc282c38e44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07ce9e9399488a" /><Relationship Type="http://schemas.openxmlformats.org/officeDocument/2006/relationships/notesMaster" Target="/ppt/notesMasters/notesMaster1.xml" Id="R96aa58f8e1bc44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543f382bc847de" /><Relationship Type="http://schemas.openxmlformats.org/officeDocument/2006/relationships/notesMaster" Target="/ppt/notesMasters/notesMaster1.xml" Id="R087087d185a945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e1f902f2cd44f6" /><Relationship Type="http://schemas.openxmlformats.org/officeDocument/2006/relationships/notesMaster" Target="/ppt/notesMasters/notesMaster1.xml" Id="Raa44cc06421b43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69c22511444896" /><Relationship Type="http://schemas.openxmlformats.org/officeDocument/2006/relationships/notesMaster" Target="/ppt/notesMasters/notesMaster1.xml" Id="R5cd75aea7e0b43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8b653d166c4a80" /><Relationship Type="http://schemas.openxmlformats.org/officeDocument/2006/relationships/notesMaster" Target="/ppt/notesMasters/notesMaster1.xml" Id="Rf130e48c4ac84e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c8e95a999d4286" /><Relationship Type="http://schemas.openxmlformats.org/officeDocument/2006/relationships/notesMaster" Target="/ppt/notesMasters/notesMaster1.xml" Id="R0374f36b7d7f46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94a9d3eca045c0" /><Relationship Type="http://schemas.openxmlformats.org/officeDocument/2006/relationships/notesMaster" Target="/ppt/notesMasters/notesMaster1.xml" Id="R6a9cc60259aa40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6da23e6256469d" /><Relationship Type="http://schemas.openxmlformats.org/officeDocument/2006/relationships/notesMaster" Target="/ppt/notesMasters/notesMaster1.xml" Id="Rc9e613d3c02f49f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f89d6bf1ad4a5e" /><Relationship Type="http://schemas.openxmlformats.org/officeDocument/2006/relationships/notesMaster" Target="/ppt/notesMasters/notesMaster1.xml" Id="R34526fa826e6482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58ac1268caa4b4d" /><Relationship Type="http://schemas.openxmlformats.org/officeDocument/2006/relationships/notesMaster" Target="/ppt/notesMasters/notesMaster1.xml" Id="R8aeb2a5eb28848c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6fbb42c5ecc4694" /><Relationship Type="http://schemas.openxmlformats.org/officeDocument/2006/relationships/notesMaster" Target="/ppt/notesMasters/notesMaster1.xml" Id="R5c6fb994b71f4d2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5e4e4a413484a5f" /><Relationship Type="http://schemas.openxmlformats.org/officeDocument/2006/relationships/notesMaster" Target="/ppt/notesMasters/notesMaster1.xml" Id="R6639ec3da6bb446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1ead40e7d8245be" /><Relationship Type="http://schemas.openxmlformats.org/officeDocument/2006/relationships/notesMaster" Target="/ppt/notesMasters/notesMaster1.xml" Id="R47b3b70041b245b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177f38d7ea84aec" /><Relationship Type="http://schemas.openxmlformats.org/officeDocument/2006/relationships/notesMaster" Target="/ppt/notesMasters/notesMaster1.xml" Id="R72f4e730cd5743a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9f16d4ce2b34ad2" /><Relationship Type="http://schemas.openxmlformats.org/officeDocument/2006/relationships/notesMaster" Target="/ppt/notesMasters/notesMaster1.xml" Id="Rd70fe737ead442a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68030787de34e3f" /><Relationship Type="http://schemas.openxmlformats.org/officeDocument/2006/relationships/notesMaster" Target="/ppt/notesMasters/notesMaster1.xml" Id="Rf482138c09394cc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26c2071d11f4f5a" /><Relationship Type="http://schemas.openxmlformats.org/officeDocument/2006/relationships/notesMaster" Target="/ppt/notesMasters/notesMaster1.xml" Id="R07f5f04d675f483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4dcaca74b0e4af4" /><Relationship Type="http://schemas.openxmlformats.org/officeDocument/2006/relationships/notesMaster" Target="/ppt/notesMasters/notesMaster1.xml" Id="R47b57836572b4e0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c4a4a281e074ce9" /><Relationship Type="http://schemas.openxmlformats.org/officeDocument/2006/relationships/notesMaster" Target="/ppt/notesMasters/notesMaster1.xml" Id="R09d1886cd7d04a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collaboratively: the business concept is aligned; this meeting is about making the work executable.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working assumptions confirmed by Geoff Schackmann, August 6,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upfront contract for the four-hour working session.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working assumptions confirmed by Geoff Schackmann, August 6,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describe the relationship as executed or approved yet.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working assumptions confirmed by Geoff Schackmann, August 6,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with value, then acknowledge that provider-level risk is why Profound retains control and protections.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working assumptions confirmed by Geoff Schackmann, August 6,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‘provider platform’ and ‘approved ADS,’ never ‘renting the license.’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- 42 C.F.R. § 418.100(b), (e)–(f): https://www.ecfr.gov/current/title-42/chapter-IV/subchapter-B/part-418/subpart-D/section-418.100</a:t>
            </a:r>
          </a:p>
          <a:p xmlns:a="http://schemas.openxmlformats.org/drawingml/2006/main">
            <a:r>
              <a:t>- Texas HHSC ADS guidance: https://apps.hhs.texas.gov/providers/hcssa/cbt/module6/HCSSA_PresurveyCBT_Module_6_0603202121.html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Confirm that the September payment compensates implementation and oversight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working assumptions confirmed by Geoff Schackmann, August 6,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Patrick to identify any risk that is not already allocated.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- 42 C.F.R. § 418.100(b), (e)–(f): https://www.ecfr.gov/current/title-42/chapter-IV/subchapter-B/part-418/subpart-D/section-418.100</a:t>
            </a:r>
          </a:p>
          <a:p xmlns:a="http://schemas.openxmlformats.org/drawingml/2006/main">
            <a:r>
              <a:t>- Texas HHSC ADS guidance: https://apps.hhs.texas.gov/providers/hcssa/cbt/module6/HCSSA_PresurveyCBT_Module_6_0603202121.html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Silas should lead this section and invite Patrick to map his existing team into the roles.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Texas HHSC ADS guidance on authority and supervision: https://apps.hhs.texas.gov/providers/hcssa/cbt/module6/HCSSA_PresurveyCBT_Module_6_0603202121.html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present FireNote as predetermined. Present a controlled clinical review and shared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FireNote product claims (vendor-provided): https://firenote.health/compliance-solutions and https://firenote.health/how-firenote-works</a:t>
            </a:r>
          </a:p>
          <a:p xmlns:a="http://schemas.openxmlformats.org/drawingml/2006/main">
            <a:r>
              <a:t>- Hospice Tools pricing and product claims (vendor-provided): https://www.hospicetools.com/pricing/</a:t>
            </a:r>
          </a:p>
          <a:p xmlns:a="http://schemas.openxmlformats.org/drawingml/2006/main">
            <a:r>
              <a:t>- DME Express integration claims (vendor-provided): https://dmeexpress.com/technology/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Offer to schedule this follow-up immediately. The clinical users should decide against agreed acceptance criteria.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- 42 C.F.R. § 418.104: https://www.law.cornell.edu/cfr/text/42/418.104</a:t>
            </a:r>
          </a:p>
          <a:p xmlns:a="http://schemas.openxmlformats.org/drawingml/2006/main">
            <a:r>
              <a:t>- CMS-855A medical-record storage and provider-control instructions: https://www.cms.gov/medicare/cms-forms/cms-forms/downloads/cms855a.pdf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promise that two unrelated payroll providers can file under one EIN. The base case requires one filer.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- 42 C.F.R. § 418.64 core-services employment rule: https://ecfr.io/Title-42/Section-418.64</a:t>
            </a:r>
          </a:p>
          <a:p xmlns:a="http://schemas.openxmlformats.org/drawingml/2006/main">
            <a:r>
              <a:t>- 42 C.F.R. § 418.100 governing-body and administrator requirements: https://www.ecfr.gov/current/title-42/chapter-IV/subchapter-B/part-418/subpart-D/section-418.100</a:t>
            </a:r>
          </a:p>
          <a:p xmlns:a="http://schemas.openxmlformats.org/drawingml/2006/main">
            <a:r>
              <a:t>- Gusto guidance on one filer per quarter: https://support.gusto.com/article/250327190420853/payroll-tax-responsibilities-when-switching-to-gusto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agree on the close calendar and access—not just the abstract waterfall.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CMS-855A payment and record-control instructions: https://www.cms.gov/medicare/cms-forms/cms-forms/downloads/cms855a.pdf</a:t>
            </a:r>
          </a:p>
          <a:p xmlns:a="http://schemas.openxmlformats.org/drawingml/2006/main">
            <a:r>
              <a:t>- Internal working assumptions confirmed by Geoff Schackmann, August 6,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Patrick to identify his MAC, accreditation organization, current licensed service area and TULIP access during the meeting.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Texas TULIP training guide: https://www.hhs.texas.gov/sites/default/files/documents/doing-business-with-hhs/licensing-credentialing-regulation/tulip/tulip-training-guide.pdf</a:t>
            </a:r>
          </a:p>
          <a:p xmlns:a="http://schemas.openxmlformats.org/drawingml/2006/main">
            <a:r>
              <a:t>- Texas HHSC ADS guidance: https://apps.hhs.texas.gov/providers/hcssa/cbt/module6/HCSSA_PresurveyCBT_Module_6_0603202121.html</a:t>
            </a:r>
          </a:p>
          <a:p xmlns:a="http://schemas.openxmlformats.org/drawingml/2006/main">
            <a:r>
              <a:t>- 42 C.F.R. § 418.100(f): https://www.ecfr.gov/current/title-42/chapter-IV/subchapter-B/part-418/subpart-D/section-418.100</a:t>
            </a:r>
          </a:p>
          <a:p xmlns:a="http://schemas.openxmlformats.org/drawingml/2006/main">
            <a:r>
              <a:t>- CMS-855A, Section 4: https://www.cms.gov/medicare/cms-forms/cms-forms/downloads/cms855a.pdf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discussion draft. Resolve role conflicts in the detailed appendix.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working assumptions confirmed by Geoff Schackmann, August 6,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Confirm who owns each document, the first-review date and the decision deadline.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working assumptions confirmed by Geoff Schackmann, August 6,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reading each decision aloud and assigning one accountable owner and 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working assumptions confirmed by Geoff Schackmann, August 6,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working assumptions confirmed by Geoff Schackmann, August 6,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Texas TULIP training guide: https://www.hhs.texas.gov/sites/default/files/documents/doing-business-with-hhs/licensing-credentialing-regulation/tulip/tulip-training-guide.pdf</a:t>
            </a:r>
          </a:p>
          <a:p xmlns:a="http://schemas.openxmlformats.org/drawingml/2006/main">
            <a:r>
              <a:t>- CMS-855A: https://www.cms.gov/medicare/cms-forms/cms-forms/downloads/cms855a.pdf</a:t>
            </a:r>
          </a:p>
          <a:p xmlns:a="http://schemas.openxmlformats.org/drawingml/2006/main">
            <a:r>
              <a:t>- 42 C.F.R. § 418.100(f): https://www.ecfr.gov/current/title-42/chapter-IV/subchapter-B/part-418/subpart-D/section-418.100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working assumptions confirmed by Geoff Schackmann, August 6,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- 42 C.F.R. § 418.104: https://www.law.cornell.edu/cfr/text/42/418.104</a:t>
            </a:r>
          </a:p>
          <a:p xmlns:a="http://schemas.openxmlformats.org/drawingml/2006/main">
            <a:r>
              <a:t>- CMS-855A: https://www.cms.gov/medicare/cms-forms/cms-forms/downloads/cms855a.pdf</a:t>
            </a:r>
          </a:p>
          <a:p xmlns:a="http://schemas.openxmlformats.org/drawingml/2006/main">
            <a:r>
              <a:t>- Gusto filing guidance: https://support.gusto.com/article/250327190420853/payroll-tax-responsibilities-when-switching-to-gusto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Texas TULIP training guide: https://www.hhs.texas.gov/sites/default/files/documents/doing-business-with-hhs/licensing-credentialing-regulation/tulip/tulip-training-guide.pdf</a:t>
            </a:r>
          </a:p>
          <a:p xmlns:a="http://schemas.openxmlformats.org/drawingml/2006/main">
            <a:r>
              <a:t>- CMS institutional enrollment guidance: https://www.cms.gov/medicare/enrollment-renewal/providers-suppliers/chain-ownership-system-pecos/enroll-as-institutional-provider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a8b25ad9284b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7caaaa3ed4476c" /><Relationship Type="http://schemas.openxmlformats.org/officeDocument/2006/relationships/slideLayout" Target="/ppt/slideLayouts/slideLayout1.xml" Id="Rfb1b52610afd40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1b52610afd40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90c513f25d4d1a" /><Relationship Type="http://schemas.openxmlformats.org/officeDocument/2006/relationships/notesSlide" Target="/ppt/notesSlides/notesSlide1.xml" Id="R5360e4a5ada94c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1de718d8034a10" /><Relationship Type="http://schemas.openxmlformats.org/officeDocument/2006/relationships/notesSlide" Target="/ppt/notesSlides/notesSlide2.xml" Id="Rc6ec96f1678943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71d4d00314a39" /><Relationship Type="http://schemas.openxmlformats.org/officeDocument/2006/relationships/notesSlide" Target="/ppt/notesSlides/notesSlide3.xml" Id="R251cf86a665742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6ee9da0e84b06" /><Relationship Type="http://schemas.openxmlformats.org/officeDocument/2006/relationships/notesSlide" Target="/ppt/notesSlides/notesSlide4.xml" Id="R5e18e05412664f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5fe4ec858451e" /><Relationship Type="http://schemas.openxmlformats.org/officeDocument/2006/relationships/notesSlide" Target="/ppt/notesSlides/notesSlide5.xml" Id="R91bce3cee08c4d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f234c0d0f54e99" /><Relationship Type="http://schemas.openxmlformats.org/officeDocument/2006/relationships/notesSlide" Target="/ppt/notesSlides/notesSlide6.xml" Id="R4543a3ce286440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0d12d41c9429b" /><Relationship Type="http://schemas.openxmlformats.org/officeDocument/2006/relationships/notesSlide" Target="/ppt/notesSlides/notesSlide7.xml" Id="R2aa395bd360b4b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bd0b25058466e" /><Relationship Type="http://schemas.openxmlformats.org/officeDocument/2006/relationships/notesSlide" Target="/ppt/notesSlides/notesSlide8.xml" Id="Re816bdc08bf946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461ba5dcdc4cf1" /><Relationship Type="http://schemas.openxmlformats.org/officeDocument/2006/relationships/notesSlide" Target="/ppt/notesSlides/notesSlide9.xml" Id="Rd3c743173e5f4b3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6db42a4444e7f" /><Relationship Type="http://schemas.openxmlformats.org/officeDocument/2006/relationships/notesSlide" Target="/ppt/notesSlides/notesSlide10.xml" Id="Rfac447de6cb44ba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59bec6d7174467" /><Relationship Type="http://schemas.openxmlformats.org/officeDocument/2006/relationships/notesSlide" Target="/ppt/notesSlides/notesSlide11.xml" Id="R2aebe2c458e8483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8b89f90584fe3" /><Relationship Type="http://schemas.openxmlformats.org/officeDocument/2006/relationships/notesSlide" Target="/ppt/notesSlides/notesSlide12.xml" Id="R39cd087be26b4f0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64cbc5c914575" /><Relationship Type="http://schemas.openxmlformats.org/officeDocument/2006/relationships/notesSlide" Target="/ppt/notesSlides/notesSlide13.xml" Id="Re1d1441637e94d3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423abb04f4048" /><Relationship Type="http://schemas.openxmlformats.org/officeDocument/2006/relationships/notesSlide" Target="/ppt/notesSlides/notesSlide14.xml" Id="Rc0afeb167ecb4d0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8dca9c424458d" /><Relationship Type="http://schemas.openxmlformats.org/officeDocument/2006/relationships/notesSlide" Target="/ppt/notesSlides/notesSlide15.xml" Id="Rd37c903896484bc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c5a0449874fc7" /><Relationship Type="http://schemas.openxmlformats.org/officeDocument/2006/relationships/notesSlide" Target="/ppt/notesSlides/notesSlide16.xml" Id="Ra21bfdbbf05c42e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0c0744a77040ad" /><Relationship Type="http://schemas.openxmlformats.org/officeDocument/2006/relationships/notesSlide" Target="/ppt/notesSlides/notesSlide17.xml" Id="R021ccff3644c4a0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81afa9f4646fa" /><Relationship Type="http://schemas.openxmlformats.org/officeDocument/2006/relationships/notesSlide" Target="/ppt/notesSlides/notesSlide18.xml" Id="R9554ccb9c7234e0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4511a35e14b27" /><Relationship Type="http://schemas.openxmlformats.org/officeDocument/2006/relationships/notesSlide" Target="/ppt/notesSlides/notesSlide19.xml" Id="R52f67b59e9c047a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e675930294539" /><Relationship Type="http://schemas.openxmlformats.org/officeDocument/2006/relationships/notesSlide" Target="/ppt/notesSlides/notesSlide20.xml" Id="Rac879819908d4c2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218f96be97484b" /><Relationship Type="http://schemas.openxmlformats.org/officeDocument/2006/relationships/notesSlide" Target="/ppt/notesSlides/notesSlide21.xml" Id="Rb90bd8163cd14b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3D9A70-E95F-4A72-82D6-CDEDC2C0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WORKING SESSION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7B3E59-68C3-4534-AB9E-20BEF081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9334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00000"/>
                </a:solidFill>
              </a:defRPr>
            </a:pPr>
            <a:r>
              <a:rPr sz="4950" b="1">
                <a:solidFill>
                  <a:srgbClr val="000000"/>
                </a:solidFill>
              </a:rPr>
              <a:t>Profound × Azalea</a:t>
            </a:r>
          </a:p>
          <a:p xmlns:a="http://schemas.openxmlformats.org/drawingml/2006/main">
            <a:pPr algn="l">
              <a:defRPr sz="4950" b="1">
                <a:solidFill>
                  <a:srgbClr val="000000"/>
                </a:solidFill>
              </a:defRPr>
            </a:pPr>
            <a:r>
              <a:rPr sz="4950" b="1">
                <a:solidFill>
                  <a:srgbClr val="000000"/>
                </a:solidFill>
              </a:rPr>
              <a:t>Tyler ADS Partnership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D54CEE-E9A5-43A7-ADA8-C3E75623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4857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33822E-3E8D-4A7E-8536-93D46312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630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August 10, 2026  |  1:00–5:00 p.m. CT  |  Austin area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F491E3-0430-4C9B-99E5-6592E541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56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Objective: document the framework, assign the launch work, and begin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121247024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08CB0B-9A36-4DCB-BFA0-284DEA0B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77037-B8B7-4D03-9B7E-40136835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Today should convert alignment into an executable path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1EBA14-EED4-4800-9713-3B7E57BB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02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400050" y="20859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EAE493-CF41-4C4B-9360-284DD62F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621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C6FD44-08F3-4D35-87DA-177CFD12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56210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Confirm the operating and economic framework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00050" y="27717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65F937-8356-4AE9-B495-9BCEAA28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2479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FD19F2-814F-464D-A236-9FE98577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4790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Resolve authority, staffing, payroll, EMR and vendor decisions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00050" y="34575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CE5071-3823-4E23-A4DC-99FB2657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9337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19B289-0BB4-4D5A-8F34-2C93EBBF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3370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Agree on TULIP, PECOS and Medicare approval workstreams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00050" y="41433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266DEA-C984-42DA-952E-F2FC3225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BAD291-C9BB-4575-8AB1-307EB7E8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1950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Assign accountable owners and target dates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400050" y="48291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BBF3B9-3161-4396-AD60-9699987E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053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A95771-63CB-4D14-BD32-429B09F4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0530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Approve the advisor packages and document architecture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400050" y="55149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EAC8E0-843B-44BA-B11E-4844DC42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9911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C09E70-24EA-4827-9B25-0339EAA1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9110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Finalize the non-binding term sheet for signature</a:t>
            </a:r>
          </a:p>
        </p:txBody>
      </p:sp>
    </p:spTree>
    <p:extLst>
      <p:ext uri="{BB962C8B-B14F-4D97-AF65-F5344CB8AC3E}">
        <p14:creationId xmlns:p14="http://schemas.microsoft.com/office/powerpoint/2010/main" val="185933427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AFDA32-66F8-49EC-973C-04608880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F7A50-462A-4BD2-A132-D1B91EFD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concept is aligned; four items remain to be documented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B7D9E1-0825-464F-9BBE-09AD359B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238ABE-FD9E-4B05-AB39-307A2E1A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381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BB3F28-30D6-456B-8B01-C3E4756C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4924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Aligned in 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FF94C6-ECCF-4753-ADD9-2394A636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49244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• Tyler ADS under Profound’s provider platform</a:t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• Azalea funds the Tyler operation</a:t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• $7,500 monthly implementation and oversight fee</a:t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• Direct costs reimbursed at cost, without markup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A6A796-FD1F-4A84-8835-815F0780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19250"/>
            <a:ext cx="5772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BA8A70-2A62-44BB-AA89-289A564D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28800"/>
            <a:ext cx="531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Still to document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988FAC-1CC4-43F2-B19A-FE13E296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47900"/>
            <a:ext cx="5314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• Final authority and responsibility matrix</a:t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• Payroll, EMR, billing and vendor controls</a:t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• Advisor review and definitive-document path</a:t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• Regulatory sequence and launch conditions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DDE9B8-0744-4B5A-8AB7-98ADC243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Working 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E6C588-F7DF-487B-95C6-34E43002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Agreement in principle — subject to financial-advisor review, legal review, regulatory approval and definitive documents.</a:t>
            </a:r>
          </a:p>
        </p:txBody>
      </p:sp>
    </p:spTree>
    <p:extLst>
      <p:ext uri="{BB962C8B-B14F-4D97-AF65-F5344CB8AC3E}">
        <p14:creationId xmlns:p14="http://schemas.microsoft.com/office/powerpoint/2010/main" val="174834012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5D3E99-D3F8-4582-BD53-1D292914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15E145-4B47-44BC-A131-32F8D692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Profound receives near-term economics and a stronger operating partner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53EF36-7C02-4AEF-8EF2-153103C1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1EE729-36D6-48D9-9001-3562263D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5623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5E706E-4A31-4010-A59D-70E0DD47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Immediate value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5E863C-40B0-4871-BDB0-92FEB0A8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310515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$7,500 monthly fee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Full reimbursement of direct Tyler costs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No Tyler capital obligation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Transition consideration selected by Patrick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CD4C45-0908-407F-96A8-5EDB57E6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19250"/>
            <a:ext cx="35623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4A1390-F322-4F5D-9D2D-8865E41A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8288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Operating 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43FCFD-769D-46C1-B9ED-A6BF8CCC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247900"/>
            <a:ext cx="310515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Experienced clinical and growth team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Tyler execution without distracting Profound’s current operation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Shared operating, documentation and marketing practices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Transparent performance reporting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7A282A-6BE7-4FC6-8CD7-58B004F7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0"/>
            <a:ext cx="35623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09A9ED-DA23-4AD7-89E7-F8AB1D04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288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Strategic option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B2DC5D-D4C4-49C1-99A5-6AFFA2E1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47900"/>
            <a:ext cx="310515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A 12-month bridge with a mutual extension option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A working relationship that may continue after Azalea’s standalone platform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No automatic long-term equity or permanent dependency</a:t>
            </a:r>
          </a:p>
        </p:txBody>
      </p:sp>
    </p:spTree>
    <p:extLst>
      <p:ext uri="{BB962C8B-B14F-4D97-AF65-F5344CB8AC3E}">
        <p14:creationId xmlns:p14="http://schemas.microsoft.com/office/powerpoint/2010/main" val="117879462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1BE9FA-2FDD-4F08-8589-6D776277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4A455-AAD1-47C6-8463-D92C7022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Profound retains provider authority while Tyler economics stay separate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90392-4DD8-4516-A4DB-59F11B42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05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2724150" y="266700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cxnSp>
        <p:nvCxnSpPr>
          <p:cNvPr id="27" name=""/>
          <p:cNvCxnSpPr/>
          <p:nvPr/>
        </p:nvCxnSpPr>
        <p:spPr>
          <a:xfrm xmlns:a="http://schemas.openxmlformats.org/drawingml/2006/main">
            <a:off x="6324600" y="266700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cxnSp>
        <p:nvCxnSpPr>
          <p:cNvPr id="28" name=""/>
          <p:cNvCxnSpPr/>
          <p:nvPr/>
        </p:nvCxnSpPr>
        <p:spPr>
          <a:xfrm xmlns:a="http://schemas.openxmlformats.org/drawingml/2006/main">
            <a:off x="9734550" y="26670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84D148-8367-4300-A9BA-20930492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23241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0D7960-40DC-4DD6-8F2B-65DCE364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Tyler Hold / Geoff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EEFCA9-8D68-4F27-BAEA-B34FCD39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28900"/>
            <a:ext cx="1866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621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Funds Tyler</a:t>
            </a:r>
          </a:p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Provides management infrastructure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3BAC5C-9EB1-4C5D-A0C4-21A323DF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52625"/>
            <a:ext cx="24765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896EEE-452F-49AE-92AF-99D41905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1907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Tyler ADS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2FC6E0-3AED-466C-8E38-2728E7CA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628900"/>
            <a:ext cx="201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15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Separate cost center</a:t>
            </a:r>
          </a:p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Local team and operating plan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83605A-06A4-4E82-8E4E-322E6963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52625"/>
            <a:ext cx="22860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744E66-B488-4CB5-8963-F14D2EBF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9075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Profound Hospice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A0DCD7-485B-4CA2-8ABC-0BCFD49A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2890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157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Licensed provider</a:t>
            </a:r>
          </a:p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Final clinical and compliance authority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DAF8F2-C778-476E-8C4A-AB2EB0F4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952625"/>
            <a:ext cx="1200150" cy="14478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7E8774-5CCD-4E02-AC45-E064A2DE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26695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Payers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ABC370-84C8-497F-971E-5D6D4C2E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743200"/>
            <a:ext cx="93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Claims and</a:t>
            </a:r>
          </a:p>
          <a:p xmlns:a="http://schemas.openxmlformats.org/drawingml/2006/main"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receipts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2ADE37-5263-4DB2-94ED-B883AC49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Profound must remain the actual provider—not a billing conduit.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8D0522-C4DF-497B-A78B-E72C6561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0535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Clinical authority, records, claims, cash, QAPI and stop-admission rights trace back to Profound. Azalea’s independence is created through funding, local management, reporting and transition rights.</a:t>
            </a:r>
          </a:p>
        </p:txBody>
      </p:sp>
    </p:spTree>
    <p:extLst>
      <p:ext uri="{BB962C8B-B14F-4D97-AF65-F5344CB8AC3E}">
        <p14:creationId xmlns:p14="http://schemas.microsoft.com/office/powerpoint/2010/main" val="199505809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A181D7-25E1-4E71-9FAC-4983FF72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774CAA-4798-4E80-B776-159CA0CC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economics are fixed, transparent and independent of referrals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244B38-E89E-4651-9CD0-442EA658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CBE10-D78B-4F8A-BB99-63D34577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35623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3B7FA-8B06-4CF9-B16A-0328D6AA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Monthly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022EE3-FABD-4DFC-B57E-B4B8DEFE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310515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$7,500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First payment: September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Triggered by the signed non-binding framework and formal implementation—not access to credentials.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1FE84-B858-47C5-80FE-D33ED941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14500"/>
            <a:ext cx="35623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F5158A-637D-4B9A-9A2F-44CF325A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9240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Direct costs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0EC173-C98D-4580-B678-E336C3EE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343150"/>
            <a:ext cx="310515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Reimbursed at actual cost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No markup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Documented and reconciled monthly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No Profound capital obligation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B90EFC-BD55-4F68-9643-2A9F9A57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14500"/>
            <a:ext cx="35623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279A76-CFAD-406E-A773-A5BBC046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240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Patrick’s election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0167A9-676F-4B55-825E-CD200772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43150"/>
            <a:ext cx="310515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Option A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$25,000 cash after defined transition obligations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Option B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$50,000 convertible note; definitive terms developed with counsel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No exclusivity</a:t>
            </a:r>
          </a:p>
        </p:txBody>
      </p:sp>
    </p:spTree>
    <p:extLst>
      <p:ext uri="{BB962C8B-B14F-4D97-AF65-F5344CB8AC3E}">
        <p14:creationId xmlns:p14="http://schemas.microsoft.com/office/powerpoint/2010/main" val="95024667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CA566E-8892-4C2D-8B21-12691685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2A7CAF-67B7-4887-B1F0-FFF26B15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Profound’s protections are embedded in the operating model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E23E9-34CE-4A3B-AA3E-DCD166A6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C2EBF2-1918-402A-B23D-F529F895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27611C-C117-4989-89E4-ADB2804E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81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Authority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7ACD45-64BF-46F2-B639-BE54A924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811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Final admissions, clinical, policy, QAPI, billing and stop-admission control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00050" y="22098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4B5782-6F07-4669-A678-5860C396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193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206285-6AFD-45C5-8624-784E4667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19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Cash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44391F-C5FA-4323-B73F-D30A8A20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193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Profound-controlled bank account and payer receipts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00050" y="30480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85A865-5E5C-401A-A178-D3A4DBDC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575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E05958-CB7F-43DC-AA4E-9B7A4207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57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Visibility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7F84C1-BD45-478B-B851-D702B351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575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Tyler claims, ERA, AR, payroll and vendor reporting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400050" y="38862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4CC42B-50B1-4DB2-A94D-1B8CBFD0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957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EB54EB-A313-4791-BC74-F9078896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Funding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3041F6-875D-47C7-8276-D11897C4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957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Azalea-prefunded payroll, operating costs and required reserves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400050" y="47244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B7ABC6-309F-4073-83E6-A43F7446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339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DC99C5-BF53-4E2A-91CC-37808831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33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Recourse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9D0A79-1986-4EE6-8539-64B14846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33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Insurance, indemnity, audit cooperation and wind-down obligations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400050" y="55626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41736325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B67A16-E26F-40AE-8BA1-76523CAE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CE0685-5277-401B-BE5A-2D3A3AFD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teams integrate around clear decision rights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63CD9-EAAE-4180-BA2F-92877F28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7FE7E9-DE85-416B-B0EA-0B4FBC07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381625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0450AC-D325-46F5-9DD3-36A3A848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4924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Tyler / Azalea leads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7DD23E-2413-4594-9540-C2A9EEB0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4924425" cy="303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Local execution and census development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Recruiting and staffing recommendations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Scheduling and performance management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Marketing and referral-development activity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Tyler budget and operating reporting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Technology and vendor recommendations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104C1C-BACC-4FF8-9D6D-AFEC1756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19250"/>
            <a:ext cx="57721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3FF26-C6EA-446D-B073-F049E908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28800"/>
            <a:ext cx="531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Profound retains final authority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91FCE0-3A13-4FF8-8858-683FD4AC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47900"/>
            <a:ext cx="5314950" cy="303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Patient acceptance and discharge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Eligibility, certification and plan of care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Clinical policies and QAPI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Provider enrollment, claims and refunds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Final clinical employment decisions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Stop-admission and compliance intervention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859558-F810-4927-975B-0555A62F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368"/>
                </a:solidFill>
              </a:defRPr>
            </a:pPr>
            <a:r>
              <a:rPr sz="1275" b="1">
                <a:solidFill>
                  <a:srgbClr val="5F6368"/>
                </a:solidFill>
              </a:rPr>
              <a:t>Integration 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CBE730-3B00-4828-BE04-D0C7AF1B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724525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94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Introduce both teams, explain the shared model, and publish one escalation path before the first admission.</a:t>
            </a:r>
          </a:p>
        </p:txBody>
      </p:sp>
    </p:spTree>
    <p:extLst>
      <p:ext uri="{BB962C8B-B14F-4D97-AF65-F5344CB8AC3E}">
        <p14:creationId xmlns:p14="http://schemas.microsoft.com/office/powerpoint/2010/main" val="21290184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586351-3A70-41EB-9B43-6C154440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0A0764-3EA7-4B43-95EC-FE1B818D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Vendor choices should reduce risk—not create friction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F8131-43D2-4A7E-B167-5D832081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427323-9FCB-4FF5-B6EE-0832DA25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35623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F7326-3684-41CF-A784-1298F44B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FireNote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1418E1-E51A-4ADA-BBB6-0F3DDAD0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310515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Azalea’s proposed Tyler EMR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Rationale: documentation consistency, clinician productivity and compliance visibility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Decision requires Profound control, administrator access, record export, claims workflow and security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F6189B-BAD1-46A2-8EF7-2A79E66E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38300"/>
            <a:ext cx="35623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5F6B5-0F4C-468E-83A2-1C86209D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8478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Hospice 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A5303E-AC28-4ABB-BBC3-FD8BD848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266950"/>
            <a:ext cx="310515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Profound’s current EMR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Known operating environment for Profound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Published pricing starts at $85 per user/month; billing and clearinghouse services may be separate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Evaluate integration and total workflow cost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77B41C-0CCF-4414-A659-DC29F874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38300"/>
            <a:ext cx="35623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B8712F-6FE7-4AF6-BCA0-083F5436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478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DME Express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A0763D-B4B2-4C4B-8246-A438AA6A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66950"/>
            <a:ext cx="310515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Azalea’s current DME partner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Continuity reduces patient and caregiver disruption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Profound must approve a new agreement or valid assignment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Confirm formulary, service levels, integration, pricing and invoicing</a:t>
            </a:r>
          </a:p>
        </p:txBody>
      </p:sp>
    </p:spTree>
    <p:extLst>
      <p:ext uri="{BB962C8B-B14F-4D97-AF65-F5344CB8AC3E}">
        <p14:creationId xmlns:p14="http://schemas.microsoft.com/office/powerpoint/2010/main" val="77609549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68686F-4E76-4752-915E-2BBE4DB9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316E6-0A6B-4AC5-83D9-52D85547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A clinical working session can decide the EMR based on evidence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383E1E-BF26-4BDB-8ED3-28A277FA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4CD085-147C-4907-9D66-01FA5DB1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Participants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CFB4EA-43D0-403C-B4A6-68FCEE4E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Patrick  •  Patrick’s RN spouse  •  Profound clinical lead  •  Dana  •  Silas  •  FireNote implementation lead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D6DC2C-E8AC-4BE0-8B80-ABC70ADC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B0FEB5-153E-43BA-BC31-2D1672E6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6EBBEA-D662-4FCD-A0E3-EC8C0797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57500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Demonstrate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7FA5D3-F5E9-482A-8B94-B6C693F6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57500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Admission, care plan, IDG, orders, HOPE, supervisory visits and ADR retrieval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D3E426-68A7-47EC-92C1-8A2704CF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B3720C-45DD-4828-962D-04ACC96C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AF955B-2BC3-4B73-9CAB-FF0689DC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0450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Validate 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B2FFC-496E-40D3-94AB-A348BE82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00450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Profound administrator access, audit logs, policy alignment, record retention and export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0CA875-FA21-4757-9FD7-C92948CB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7977F0-760B-4E95-A660-92F29E4F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F832FF-8ED7-4B29-9AAD-3992D71D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43400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Validate billing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E1B813-F4AC-4DA3-9077-A922FD26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43400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NPI/CCN configuration, NOE and claim workflow, clearinghouse, ERA and AR reporting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729D78-2AAD-4B21-9C70-F97203E2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863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850DCC-55C4-4420-9312-71B7F230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B3A0E6-8F65-4116-8F3A-BFE86C00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86350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Decide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37148A-A51E-4DC8-89BE-FF47A503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086350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Approve FireNote, retain Hospice Tools, or define a controlled alternative</a:t>
            </a:r>
          </a:p>
        </p:txBody>
      </p:sp>
    </p:spTree>
    <p:extLst>
      <p:ext uri="{BB962C8B-B14F-4D97-AF65-F5344CB8AC3E}">
        <p14:creationId xmlns:p14="http://schemas.microsoft.com/office/powerpoint/2010/main" val="22851525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F33D8D-E639-42A5-A3C0-A62FA91E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5B3866-D8E4-4382-99A5-9DC0B0F6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Core clinical staff should sit on Profound payroll; Azalea funds the cost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0D9E1-70B8-49C1-B454-F9CA2E06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11CF90-A8EB-4F14-8784-F8EB5DD4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3816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E26B38-A811-48E1-8CD3-4B8C3356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4924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Recommended base 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A6E621-7BDB-4EC3-AB4C-45FC3EA9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4924425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Profound is W-2 employer for core clinical staff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Azalea prefunds wages, taxes and benefits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Tyler is a separate location and cost center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One authoritative payroll-tax filer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Gusto only if Profound’s payroll advisor validates the configuration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Azalea employs appropriate nonclinical staff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23818B-8986-4B05-A777-D44519A2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19250"/>
            <a:ext cx="57721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14DA61-FEEA-49C5-B980-4FD3AA73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28800"/>
            <a:ext cx="531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Why this is cleaner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77EB0D-3BC6-49FC-8989-B30513B2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47900"/>
            <a:ext cx="531495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Aligns employment with the certified provider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Preserves Profound’s supervision and policy authority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Avoids routine contracting of core services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Prevents duplicate quarterly payroll filings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Produces location-level payroll reporting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Keeps Azalea economically responsible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682F32-536E-4CF6-97EA-9E840169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97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Decision needed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20C6F8-535B-467F-B2CB-B71B4106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781675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94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Authorize payroll and healthcare counsel to validate the employer, funding and filing mechanics immediately.</a:t>
            </a:r>
          </a:p>
        </p:txBody>
      </p:sp>
    </p:spTree>
    <p:extLst>
      <p:ext uri="{BB962C8B-B14F-4D97-AF65-F5344CB8AC3E}">
        <p14:creationId xmlns:p14="http://schemas.microsoft.com/office/powerpoint/2010/main" val="123247637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A5660A-B6C9-4BC5-9E0D-A23D59F6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652BA4-7BBB-4AF5-BEFC-9890A88C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One bank account and one Tyler subledger keep cash controls clean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8C44D2-6BD7-421A-8E95-5763D8B4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12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2533650" y="2781300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cxnSp>
        <p:nvCxnSpPr>
          <p:cNvPr id="29" name=""/>
          <p:cNvCxnSpPr/>
          <p:nvPr/>
        </p:nvCxnSpPr>
        <p:spPr>
          <a:xfrm xmlns:a="http://schemas.openxmlformats.org/drawingml/2006/main">
            <a:off x="5981700" y="2781300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cxnSp>
        <p:nvCxnSpPr>
          <p:cNvPr id="30" name=""/>
          <p:cNvCxnSpPr/>
          <p:nvPr/>
        </p:nvCxnSpPr>
        <p:spPr>
          <a:xfrm xmlns:a="http://schemas.openxmlformats.org/drawingml/2006/main">
            <a:off x="9429750" y="2781300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8A866-3010-4648-B493-EBAFCDB5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1336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64CC91-C3A6-4453-8A7C-C240E8E0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Payers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9FD4A2-8333-49E7-83B2-B2AD4BE5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1676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1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Deposit into Profound-controlled account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7D1A88-7773-46BB-8E65-EA79A698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95500"/>
            <a:ext cx="24574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EDBBCA-C777-4000-97AF-D5A1BFBD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050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Tyler subledger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273833-2AC8-4140-A921-937209BB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24150"/>
            <a:ext cx="2000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Patient, claim, ERA, AR and cash attribution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7E3D86-AE3B-41AD-AD02-785EFE4A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95500"/>
            <a:ext cx="24574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63BA36-7A2D-435B-A6DB-41BC3A67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050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Payment waterfall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27159B-A91F-4C04-98EE-CBB48E3E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24150"/>
            <a:ext cx="2000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16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Care costs → reimbursements → fee → reserves → true-up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A1243B-7266-4777-87E4-81CF0492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095500"/>
            <a:ext cx="13716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F53409-A205-433C-B84B-1BB2AA96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30505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Report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97C234-29CF-4D34-AA07-D61D0E1A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724150"/>
            <a:ext cx="914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941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Monthly close and variance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544B78-41FD-4E23-A1A3-EAA0E9A4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Minimum monthly reporting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53249B-30C3-4E73-A839-C3D33D9B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6096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Claims submitted, paid, denied and pending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ERA and cash receipts by patient and service month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Payroll, pharmacy, DME and other direct costs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Fee, reserve activity and working-capital balance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Reconciliation, exceptions and agreed true-up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A929AA-0ACC-4FB5-BC23-78D7746F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95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F6368"/>
                </a:solidFill>
              </a:defRPr>
            </a:pPr>
            <a:r>
              <a:rPr sz="1500" b="1">
                <a:solidFill>
                  <a:srgbClr val="5F6368"/>
                </a:solidFill>
              </a:rPr>
              <a:t>Control principle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D7AB59-03B0-4934-8A3E-587EF130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57200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Profound controls payer cash. Azalea receives complete visibility and contractual reconciliation rights.</a:t>
            </a:r>
          </a:p>
        </p:txBody>
      </p:sp>
    </p:spTree>
    <p:extLst>
      <p:ext uri="{BB962C8B-B14F-4D97-AF65-F5344CB8AC3E}">
        <p14:creationId xmlns:p14="http://schemas.microsoft.com/office/powerpoint/2010/main" val="131098856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015204-C7EE-4A76-B638-887F2115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4E763-1664-4D41-BF0C-221CAACA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Billing readiness is a regulatory project—not a credential handoff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3DEB45-DB27-4B70-8CB3-CE855E8B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13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2209800" y="30861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5" name=""/>
          <p:cNvCxnSpPr/>
          <p:nvPr/>
        </p:nvCxnSpPr>
        <p:spPr>
          <a:xfrm xmlns:a="http://schemas.openxmlformats.org/drawingml/2006/main">
            <a:off x="4514850" y="30861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6" name=""/>
          <p:cNvCxnSpPr/>
          <p:nvPr/>
        </p:nvCxnSpPr>
        <p:spPr>
          <a:xfrm xmlns:a="http://schemas.openxmlformats.org/drawingml/2006/main">
            <a:off x="6819900" y="30861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7" name=""/>
          <p:cNvCxnSpPr/>
          <p:nvPr/>
        </p:nvCxnSpPr>
        <p:spPr>
          <a:xfrm xmlns:a="http://schemas.openxmlformats.org/drawingml/2006/main">
            <a:off x="9124950" y="30861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32E1AD-ED79-4C50-ACFA-A31DEC4E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1809750" cy="22860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C9AF39-3612-46A2-857B-05ADB631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02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A18335-5DB1-4665-8284-27D775A2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2890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33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Confirm eligibility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34DFE3-5750-4A9E-8C21-7E30ADD9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1466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Service area, location, license status, accreditation and MAC pathway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FFE2A7-FDF8-47EC-8207-A1072715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038350"/>
            <a:ext cx="1809750" cy="22860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321238-E19E-4F8E-832F-491FE8C3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002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4AA5F4-9496-4641-94D4-DB3EBC47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2890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Texas TULIP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B95247-FF26-4684-824C-F8977AA7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57550"/>
            <a:ext cx="1466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Submit the ADS application and required supporting information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76A429-F6E7-45C8-AA86-81D8F9B4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38350"/>
            <a:ext cx="1809750" cy="22860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87A454-675E-47AD-8F20-C354BEA1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002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81D249-8C52-460C-8275-5A13C091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2890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PECOS / 855A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99567A-1A11-42DE-BBFC-2CC37AFF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257550"/>
            <a:ext cx="1466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0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Add the hospice treatment location and disclose required control information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B1AF1C-D99F-4DAE-A03F-98F7E44E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38350"/>
            <a:ext cx="1809750" cy="22860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45415B-D000-4CF9-9639-2465834C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002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DCF456-2741-4FB9-AA9A-23A66DD7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2890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00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Approval + build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BA068D-031E-4689-A823-326E1F2B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57550"/>
            <a:ext cx="1466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02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CMS/MAC/state/AO review; policies, staffing, EMR, vendors and readiness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F6CE7B-7969-4FA5-8F02-F0B6C46D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38350"/>
            <a:ext cx="1809750" cy="22860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01AF6E-F4C5-46D7-9A3C-F44BD90C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002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1D918F-06D5-403E-831F-77050386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2890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First admission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4533B2-7AF7-4598-AC58-2E7E8D08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57550"/>
            <a:ext cx="1466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Only after required approvals are effective and launch controls pass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AE09DB-2FB7-47A9-AB83-42A73053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1139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August 31 is an aggressive target. The parties should launch only after approval—not back into approval from a promised date.</a:t>
            </a:r>
          </a:p>
        </p:txBody>
      </p:sp>
    </p:spTree>
    <p:extLst>
      <p:ext uri="{BB962C8B-B14F-4D97-AF65-F5344CB8AC3E}">
        <p14:creationId xmlns:p14="http://schemas.microsoft.com/office/powerpoint/2010/main" val="67320687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7F0891F-A920-4976-9F85-527922CB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09F3E0-88F7-4F9A-B157-C40C6CFB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18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RACI keeps Profound accountable without making Patrick do everything</a:t>
            </a:r>
          </a:p>
        </p:txBody>
      </p:sp>
      <p:cxnSp>
        <p:nvCxnSpPr>
          <p:cNvPr id="64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11A544-F6C5-40A9-988C-44C11AD4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4A28F-90E0-4F78-B887-3331D581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954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Workstream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1C661-740B-4E1A-990B-2036A909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495425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Patrick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35FF91-2FE4-464C-9196-606CFF9A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95425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Profound 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A587C7-19AC-4E94-A59F-6AFD8A47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95425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Geoff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3FE494-636E-4656-BCB0-115168CF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495425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Silas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99967-F747-4C21-B706-F9B52C87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495425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Advisor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4F539C-C2B8-446B-A1D5-976A1315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14525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AE81C1-87C7-4FCA-981F-56919D87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193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Commercial framework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D1EAC1-DAD2-42F2-806F-E7732317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193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B4815E-BE64-4BB0-825F-44F4EF4B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193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2FDE88-DA08-4D1E-B8D7-3C17640D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193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D1CD81-2F2A-49F0-83FE-0B6087E0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193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195766-6AF9-438E-94A2-6F1138F6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0193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59BEBA-638E-4BA2-A0E4-E5036C5B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66975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DDEC4E-A5A9-4D99-8599-48CAF493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TULIP / PECOS / CMS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9C9540-0F6C-408A-AC5C-50C7821C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717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6679A3-5203-4AF1-AE3A-148352BB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717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262C31-2DF7-40C6-BA20-F07358CA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B990EB-60EB-4209-BD33-C1991010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717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B90A6C-157B-41E1-8345-04A8FAF0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5717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995AD8-D741-455B-8191-96B3DBED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19425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13E6E1-1713-4C2A-AB6A-64060757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24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Clinical policy + QAPI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C33DF0-DBB5-4430-8489-1302E911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242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F30452-11C5-4281-B204-D549CFDF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242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4962EA-7C4E-41D5-A6E0-BED27285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242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B0217B-805E-45BD-90C8-F8C62C4D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242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C5E02E-9FB8-4CBB-BA08-4E9945DC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1242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CDDA0D-975F-475C-B3A2-E89785C2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71875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09F5D4-F260-4908-A89A-B12DCA7A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766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Staffing + payroll build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8D73BE-A5F9-40E7-94FC-81EFCEA6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766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738A2D-E7AE-4AA6-BFCC-9ABB9AE8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766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C16931-DFED-4365-951F-DC258E07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766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3E753D-3767-47DB-AB83-0FB0205F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766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2E5E1C-92B0-4633-8C33-DDB147D2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6766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6C0035-D17A-442C-A96B-A41AA249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24325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E352D6-9E21-4F3C-89A4-F693F678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291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EMR + billing readiness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EE8F8D4-7EB2-4AEA-97E8-C495899C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291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829D2B-663E-417B-A91F-44CF9BBE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2291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2AEF814-A5DE-4D96-9DD8-E3D2544B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291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C80606A-C61B-4B54-9931-06FAC12E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291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2B1B1E5-C96A-4EB4-9BF8-70EE6C9F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2291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DB085D9-D1B8-4AE6-B499-4A6764CF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76775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3B62C60-6263-4EEB-A21F-CECE0A30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815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Finance + reconciliation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EE2D19F-7A74-469B-863F-2DF0D7C3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815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E2A946E-4E27-4F47-9DE0-27C59A0A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7815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C7E91A8-9DAF-4BF5-846B-A4A94D0E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815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25237ED-FEAB-4ED6-8210-02F5847D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815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D46A638-3AB1-4E3E-843A-31310DA7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7815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E8C49E0-1A33-435F-B012-4C4B4D45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29225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10449A4-3D7E-41EC-B919-24363641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340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First-admission readiness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F9CF8D7-0468-40B5-BD6F-93529A37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3340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1139AD4-D469-47DB-A53F-5FC4D160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3340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4E2FF4F-383C-4CFB-AA71-E3254866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340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97CAC1C-FC88-47BF-9B16-2297F758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3340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6FC6A61-2AAD-47A5-AE79-AE838342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3340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D795DEB-4287-49A7-89E3-10DCD0F7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A = accountable  |  R = responsible  |  C = consulted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96101B6-3795-4E24-83BA-E2C9B1C3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150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Names replace placeholders after Patrick maps his team.</a:t>
            </a:r>
          </a:p>
        </p:txBody>
      </p:sp>
    </p:spTree>
    <p:extLst>
      <p:ext uri="{BB962C8B-B14F-4D97-AF65-F5344CB8AC3E}">
        <p14:creationId xmlns:p14="http://schemas.microsoft.com/office/powerpoint/2010/main" val="39376816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A75674-88E5-4B30-8B06-0026EDF8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CAF04E-09E7-4C37-8081-C77D9A6B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Four documents move the framework from discussion to implementation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3B2589-C173-4FB3-978E-B12FA3CB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7C345-9C08-4DC9-B914-8511AC49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3D747-A8AF-4102-932F-290696E3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5811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Non-binding term sheet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70A484-444F-4EC3-9F4A-6A23663D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Business terms, implementation trigger, advisor process and next steps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400050" y="23241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8F7434-AF75-4337-A0A4-B8D99C7C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098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521459-48F0-4209-B9CF-F0EC42CC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098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Counsel memorandum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A1609D-F634-4764-97B9-17577563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0985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Structure, guardrails, open legal questions and definitive-document architecture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00050" y="33528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36DAFE-D9D9-4691-946E-9219C131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385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2414F7-F3F0-4D48-87D5-6FF0E82C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385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Financial-advisor memorandum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F117D9-58BA-4BF4-94D4-527382C0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3855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Funding, cash controls, payroll, reporting, reserves and open assumptions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400050" y="43815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E75290-162F-401D-AE3B-D78BCF19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672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04CAF9-3D7D-44E5-B5DF-17A8D0B7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672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Definitive agreements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D5A380-0353-4556-BE14-796C7322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6725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Management, funding, reimbursement, employment, data, vendors, indemnity and transition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400050" y="54102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8238C3-C4D6-4D72-9D86-89B434BF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912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5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Patrick redlines the advisor memoranda before distributing them. Counsel and the financial advisor validate—not redesign—the agreed commercial intent.</a:t>
            </a:r>
          </a:p>
        </p:txBody>
      </p:sp>
    </p:spTree>
    <p:extLst>
      <p:ext uri="{BB962C8B-B14F-4D97-AF65-F5344CB8AC3E}">
        <p14:creationId xmlns:p14="http://schemas.microsoft.com/office/powerpoint/2010/main" val="5591384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58D8E2-396F-4917-A303-32FBEF99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B42E57-0B87-46F4-AAF5-E088DF2E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Leave Monday with six decisions and named owners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33F7DC-0FB0-4016-9823-73634199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325179-1398-4D89-9DD8-44A4DE96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668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8D3C3-9BDC-4967-966E-64D4F804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525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9626B6-FB6A-4CF8-8A51-3CC910D5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859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Confirm the commercial terms and September 1 implementation payment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7E96EC-CEFD-4F8A-AA6B-9E92D05D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907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AD7B4C-5F37-4174-932A-25D3FD4B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764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AFBE55-B19B-4A40-9C49-C0ABE440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098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Approve the recommended payroll and cash-control design for advisor 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A8085F-5F0D-4D51-B3EF-B32601F1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146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6585EF-A9AF-46F1-A774-82FA75B5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003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A9116A-1CA3-4C5D-AA31-9BD425C3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337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Authorize the FireNote / Hospice Tools clinical review and DME contracting 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7713FC-1103-4BB8-949D-DD84CD1B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385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C7189E-9BC3-4105-A51B-13AC817C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242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55F48B-60BC-445C-A62D-8F715008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576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Confirm the regulatory critical path and responsible filing parties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FA22AD-F5B5-4E8C-AB9D-6E69FBBD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624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160828-E384-41C6-BF9D-5A7BAAB2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481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587B33-25D1-4330-98D2-64FCFE6E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815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Approve the counsel and financial-advisor packages for Patrick’s redline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4BF170-6C6B-416F-B585-C26B62EA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863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6102E9-0D16-48DD-B413-8491FE06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720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64CBE5-6A9F-4476-9E60-1CEF045A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Finalize and sign the non-binding term sheet shortly after the meeting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A63EC5-4BFD-4005-8013-182748C7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531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Target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36C303-FE65-4467-A049-F467BCB6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1502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Readiness to admit by August 31—only if all required approvals and controls are complete.</a:t>
            </a:r>
          </a:p>
        </p:txBody>
      </p:sp>
    </p:spTree>
    <p:extLst>
      <p:ext uri="{BB962C8B-B14F-4D97-AF65-F5344CB8AC3E}">
        <p14:creationId xmlns:p14="http://schemas.microsoft.com/office/powerpoint/2010/main" val="174916798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D60F4D-DC37-41E8-AC8C-BE9C1060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A3E37-91DF-450E-93E1-575EAD11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876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00000"/>
                </a:solidFill>
              </a:defRPr>
            </a:pPr>
            <a:r>
              <a:rPr sz="5100" b="1">
                <a:solidFill>
                  <a:srgbClr val="000000"/>
                </a:solidFill>
              </a:rPr>
              <a:t>Working materials</a:t>
            </a:r>
          </a:p>
          <a:p xmlns:a="http://schemas.openxmlformats.org/drawingml/2006/main">
            <a:pPr algn="l">
              <a:defRPr sz="5100" b="1">
                <a:solidFill>
                  <a:srgbClr val="000000"/>
                </a:solidFill>
              </a:defRPr>
            </a:pPr>
            <a:r>
              <a:rPr sz="5100" b="1">
                <a:solidFill>
                  <a:srgbClr val="000000"/>
                </a:solidFill>
              </a:rPr>
              <a:t>for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4CC157-841F-478B-9B3B-A335DDB8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Detailed launch checklist  •  Expanded RACI  •  Vendor diligence  •  Calendar</a:t>
            </a:r>
          </a:p>
        </p:txBody>
      </p:sp>
    </p:spTree>
    <p:extLst>
      <p:ext uri="{BB962C8B-B14F-4D97-AF65-F5344CB8AC3E}">
        <p14:creationId xmlns:p14="http://schemas.microsoft.com/office/powerpoint/2010/main" val="20946014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2F8E6F-BBF7-42FB-BA78-69F84668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WORKING 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21DEB-C9B4-4B61-AD78-8DAC42D8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Appendix A — Regulatory and operating launch checklist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6132FD-85BD-401C-AC3E-60B87EDD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4222EE-B3BD-4134-8EFD-BAD86EFA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Provider facts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67C42D-6CAC-4A43-8DE4-6504F774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4668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License, service area, CCN/NPI, MAC, accreditation, current enrollment data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400050" y="2295525"/>
            <a:ext cx="5334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CD67FF-263F-4A2D-97F1-2C98BD8E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03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Texas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E4F25C-2FC3-4EDD-BD72-6CF642D2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600325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TULIP access, ADS application, location, leadership, policies and supporting documents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400050" y="3429000"/>
            <a:ext cx="5334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112642-F04A-4624-B43E-3EFB627E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Medicare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10A226-F2EB-4D12-B11E-06E41031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73380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PECOS/CMS-855A location addition, required disclosures, MAC/state/AO coordination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400050" y="4562475"/>
            <a:ext cx="5334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889E46-A80A-4466-AB71-A2282B04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672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Clinical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7BA15E-83C5-43B5-BC7C-A00B5745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867275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Staffing, policies, QAPI, IDG, medical director, 24/7 coverage and competencies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400050" y="5695950"/>
            <a:ext cx="5334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D408CB-E77E-42D7-B20A-C15107FA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Systems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39C49D-3D3C-46DE-A675-41C676C9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668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EMR control, billing configuration, clearinghouse, DDE, records and cybersecurity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6191250" y="2295525"/>
            <a:ext cx="5334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B05A8E-2AFC-4F54-98E5-285D4C94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03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Vendors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82D545-D252-4B38-8E14-15A5BC05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0325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DME, pharmacy, supplies, lab, facilities, insurance and service-level agreements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6191250" y="3429000"/>
            <a:ext cx="5334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49C653-51EB-4241-B20B-52FAF283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Finance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C948D2-42FB-43C7-865A-53634A2B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3380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Banking, subledger, payroll, reserves, reconciliation and monthly close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6191250" y="4562475"/>
            <a:ext cx="5334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A5E4FD-124F-4856-BA97-76FF602E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672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Launch gate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847A34-FAEC-47DE-B0D9-9D53BF9E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67275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Written approvals, testing, orientation, mock admission and signed readiness certificate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6191250" y="5695950"/>
            <a:ext cx="5334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73094912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78786CB-4409-4573-9291-3386E240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WORKING 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EA018-A418-40D9-AC10-CDEB76D4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Appendix B — Detailed RACI</a:t>
            </a:r>
          </a:p>
        </p:txBody>
      </p:sp>
      <p:cxnSp>
        <p:nvCxnSpPr>
          <p:cNvPr id="67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99EFF-1C7D-423D-B423-21B660A6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47806-650D-4A14-9BF5-4BB9C545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Workstream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F3FA0E-8EEC-40DD-B033-1096E727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287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Profound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7CDDE5-8480-4873-A98B-F1ABC6DB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Azalea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4C12EC-BCE7-40F4-B2E9-A2DD5913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Tyler team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87BDCB-D691-46A4-9914-F2A9CFFA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4287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Advisor / vendor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E84BA3-51BA-4A95-A166-DAA39590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6E3858-36CB-46EA-B39A-80F62254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859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Commercial + documents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41382E-4E6D-43DE-B0AA-1EAD579A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859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9B4EC2-2CBB-480B-8619-9D4CF3CF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859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929028-4766-43CC-9989-1C5ECE96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859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FCBED1-21EC-4BFE-A353-07D67262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8859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CE1281-1630-4B70-AA4D-D5781DD6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57425"/>
            <a:ext cx="113919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5C0F2F-6972-4DDC-8A55-D0FAA59D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33625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TULIP + state license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DBFB7E-D98C-48A2-A91D-2F1E29F5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3362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A/R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DD9A7A-A025-46D1-A604-F63FA1CB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362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45B762-3FE8-4F66-888E-81A3CCD1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0C1763-CF0B-4B93-A246-D18E3BCF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336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DE006A-18A7-499B-855E-37AA38EB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113919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DABF17-3B79-452E-B351-3658C022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8130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PECOS / 855A + MAC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D46B88-D954-4497-B263-76DE2B6D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8130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A/R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387D44-04D3-4606-B239-00438899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1746DB-7250-44C2-8468-28D88987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577B68-AB2F-475D-B692-C17B4937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813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8E3D28-4ED6-4E45-A29E-ACFA1D25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52775"/>
            <a:ext cx="113919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9CFFD3-9BB1-4FF5-93C9-832BC8FF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28975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Clinical policies + QAPI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D54316-9197-4AFF-85E8-1C3713B1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2897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04EEE7-C982-4F45-9656-AA723476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2897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922F59-3FBA-4A10-9BF8-9862085D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2897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432CB4-7811-4B04-80A4-B9899936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289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A87D00-B2C1-4074-B590-FE0DE8BB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113919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8F1700-F6E8-4F4E-BDF0-1A5B4B5B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766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Staff employment + payroll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77449B-B858-4A88-A53F-ECF98EFD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766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6D95F1-CF4C-47A4-B1AF-378C00F8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766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F029D7-B1CF-4E24-885F-BCC968CD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766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98CF4C-5569-467D-BE95-694BA87E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766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4102E1-BD7C-4DF6-84A5-FC49CF62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113919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FFEF99-1C2E-45F3-B3DA-5B598E09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24325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FireNote / EMR decision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6B7E1A-1666-4033-B7D1-1DB36D98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2432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BE2D55-DF56-4D66-8B74-D8BFF106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2432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05F6BD7-2270-4EA6-BEAF-C0F1554E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2432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551B37F-BFDB-48BE-8E5C-9DC34A86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1243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82AED1-2122-4A8D-9083-2A179501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113919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6E3A26B-7E57-464A-86FD-CECDCBBD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DME + other vendors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F140381-2B56-4105-B060-1A56D40A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7200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F624180-3160-47A8-A85C-C88325CC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EEE54D4-FE90-491F-9107-2B1E89DC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7200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6ABBF67-6363-4DF6-9B22-E1AD3413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F795828-B83D-4478-B801-EEF64314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43475"/>
            <a:ext cx="113919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8610D29-343C-44A5-AF3A-33C9FEA3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19675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Billing + cash + close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2B330CF-BEB3-447A-9910-FB5902CE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1967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7038C65-B10A-4A41-9B5F-253B8B15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1967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518F701-B762-4080-A24D-646FA311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1967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A543F59-B3CA-4220-A0FB-772567DC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196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BA0DDC3-7D38-417E-BA0E-7F64ED41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EDBECDB-CB28-4F4E-8711-FD510B72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673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Training + mock admission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24DA68C-251E-48A5-AB12-F40127EA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673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01499F8-690F-4CBB-AC14-17B4510E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673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A841D70-A927-473C-8074-948476D3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673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D57FA64-57BE-4DA7-9DAC-2EA6C26E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4673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3413BBF-20EE-4859-B655-4E34F75A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Replace role-level placeholders with names, due dates and evidence of completion during the meeting.</a:t>
            </a:r>
          </a:p>
        </p:txBody>
      </p:sp>
    </p:spTree>
    <p:extLst>
      <p:ext uri="{BB962C8B-B14F-4D97-AF65-F5344CB8AC3E}">
        <p14:creationId xmlns:p14="http://schemas.microsoft.com/office/powerpoint/2010/main" val="166926695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C4912A-2ECC-4CF4-A7EA-1BF5DA85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WORKING 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44B9D-518A-4D89-84B3-B3994D74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Appendix C — Vendor approval gates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B2C20-3176-4F59-A488-2909A63A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CA295-FE02-41F5-875F-729E0F2C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35623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2CE1DA-EE10-47D4-A4BC-95B28A88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EMR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0E1DD4-795A-4A57-B1D6-C0C7F0BF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310515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Profound administrator access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Complete authoritative record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Audit trail and authentication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Export and six-year retention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HIPAA / BAA / security review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HOPE, QAPI and supervisory workflows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Claims, ERA and AR configuration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Training and support 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9DB8F5-99ED-4FDB-9CC0-6F88CF13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00200"/>
            <a:ext cx="35623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52D745-AB21-4304-83DF-0070DB71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8097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CD6D6B-345F-490F-A87A-2E6F151B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228850"/>
            <a:ext cx="310515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Profound-approved agreement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Service-area coverage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24/7 service and escalation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Formulary and authorization rules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Pricing and invoice detail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EMR integration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Patient transition protocol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Retrieval and equipment ownership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4069CA-A5F0-4DDC-92F5-42EBE680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00200"/>
            <a:ext cx="35623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BAB116-EFBB-4E9A-9094-F8183BE5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097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Payroll + billing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B4D6D4-3634-4E7A-8BE5-17E4DAC0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28850"/>
            <a:ext cx="310515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One quarterly tax filer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Profound employer setup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Tyler department / cost center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Azalea prefunding mechanics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Claims credentials and clearinghouse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DDE / eligibility access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Patient-level cash attribution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Monthly reconciliation calendar</a:t>
            </a:r>
          </a:p>
        </p:txBody>
      </p:sp>
    </p:spTree>
    <p:extLst>
      <p:ext uri="{BB962C8B-B14F-4D97-AF65-F5344CB8AC3E}">
        <p14:creationId xmlns:p14="http://schemas.microsoft.com/office/powerpoint/2010/main" val="180157974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169C04-C6CE-4A27-9E76-57D08232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WORKING 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AF262-A9A2-4598-8DDC-89AE15FE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Appendix D — Implementation calendar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2E68A-3C02-4905-9920-4C63A551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9A20A3-375D-4944-8770-3CB70D99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18954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BD7766-60F7-4F3E-99B8-9D64333F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85925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Aug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5F1A3A-37BF-47BE-AA08-80A6FE64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571625"/>
            <a:ext cx="18954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1D101E-BD6A-4BCC-9FA8-65B75682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685925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Aug 11–14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E0C673-D54A-48B5-AAF0-E0170577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71625"/>
            <a:ext cx="18954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853C6-249D-49BA-9C97-B26BF6D4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85925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Aug 17–21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8E8E80-1338-454F-96CD-E1A1F487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71625"/>
            <a:ext cx="18954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943941-552D-4FAA-8CBC-E2FBAE32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685925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Aug 24–28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D63CA1-1416-4E94-A95A-2C1F2FF2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71625"/>
            <a:ext cx="18954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0BC468-B9E7-4904-85C0-C59C9795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85925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Aug 31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CAF315-0278-4B68-B9E6-703AF2E7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1571625"/>
            <a:ext cx="18954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DBCD0E-F40A-4C90-B918-6AEA35F7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685925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Sep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576B02-C6E7-4CC2-8E13-3F8D431E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05050"/>
            <a:ext cx="17430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C33C18-DB31-4788-A39B-A01C60F2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90775"/>
            <a:ext cx="1514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Framework + owners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10A519-5E5E-4DFC-988E-1A19B5F3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19400"/>
            <a:ext cx="36385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DEF6AF-FAE2-4A17-9ECB-580E4F98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05125"/>
            <a:ext cx="340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Counsel / advisor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194783-C086-42FB-84A8-A3545657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333750"/>
            <a:ext cx="553402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7BED0A-0C84-407A-97C1-CE8B394E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419475"/>
            <a:ext cx="5305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TULIP + PECOS / CMS pathway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DC8203-9299-4611-817D-536BE09B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848100"/>
            <a:ext cx="36385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CCF074-BBAD-45A8-AFEF-EC187A7B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933825"/>
            <a:ext cx="340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Payroll, EMR + vendor setup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66137C-642C-45F5-B9CA-21583861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62450"/>
            <a:ext cx="36385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0E4F4E-C9BA-444A-BC27-B52DC42B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48175"/>
            <a:ext cx="340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Policies, training + testing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D76EB0-88ED-47BF-BC27-682B03AD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876800"/>
            <a:ext cx="36385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61B21E-6A6E-4C63-B8D4-37255501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962525"/>
            <a:ext cx="340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Readiness gate + first admission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ABC7D5-EF0C-4BA0-B735-35149E90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391150"/>
            <a:ext cx="17430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F01E44-7832-4AD5-981B-B5FE6ECC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476875"/>
            <a:ext cx="1514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$7,500 implementation payment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EF2D4D-82B1-436B-BB98-1DF49682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The sequence is directional until Profound’s licensing specialist, MAC, accreditation organization and counsel confirm the actual approval path.</a:t>
            </a:r>
          </a:p>
        </p:txBody>
      </p:sp>
    </p:spTree>
    <p:extLst>
      <p:ext uri="{BB962C8B-B14F-4D97-AF65-F5344CB8AC3E}">
        <p14:creationId xmlns:p14="http://schemas.microsoft.com/office/powerpoint/2010/main" val="8722179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2026-08-06T22:05:21.0550000Z</dcterms:created>
  <dcterms:modified xsi:type="dcterms:W3CDTF">2026-08-06T22:05:21.0550000Z</dcterms:modified>
</coreProperties>
</file>