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2cef7536774aa0" /><Relationship Type="http://schemas.openxmlformats.org/officeDocument/2006/relationships/extended-properties" Target="/docProps/app.xml" Id="R2806d5e026204235" /><Relationship Type="http://schemas.openxmlformats.org/officeDocument/2006/relationships/officeDocument" Target="/ppt/presentation.xml" Id="R84dbcdfcf4a740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8ec0118e5a405f"/>
  </p:sldMasterIdLst>
  <p:notesMasterIdLst>
    <p:notesMasterId xmlns:r="http://schemas.openxmlformats.org/officeDocument/2006/relationships" r:id="R9b697e2811e3462e"/>
  </p:notesMasterIdLst>
  <p:sldIdLst>
    <p:sldId xmlns:r="http://schemas.openxmlformats.org/officeDocument/2006/relationships" id="256" r:id="Ra29efc62c0264c07"/>
    <p:sldId xmlns:r="http://schemas.openxmlformats.org/officeDocument/2006/relationships" id="257" r:id="R3f6f662b9df646b7"/>
    <p:sldId xmlns:r="http://schemas.openxmlformats.org/officeDocument/2006/relationships" id="258" r:id="R331a9078e6614b96"/>
    <p:sldId xmlns:r="http://schemas.openxmlformats.org/officeDocument/2006/relationships" id="259" r:id="R10fe7d5263dd471d"/>
    <p:sldId xmlns:r="http://schemas.openxmlformats.org/officeDocument/2006/relationships" id="260" r:id="Rde16c4890e4c4ffd"/>
    <p:sldId xmlns:r="http://schemas.openxmlformats.org/officeDocument/2006/relationships" id="261" r:id="Rb18572c29ef94e07"/>
    <p:sldId xmlns:r="http://schemas.openxmlformats.org/officeDocument/2006/relationships" id="262" r:id="R70c022142efc4d00"/>
    <p:sldId xmlns:r="http://schemas.openxmlformats.org/officeDocument/2006/relationships" id="263" r:id="R9f0831f00be4484a"/>
    <p:sldId xmlns:r="http://schemas.openxmlformats.org/officeDocument/2006/relationships" id="264" r:id="R3c58cf391ea34577"/>
    <p:sldId xmlns:r="http://schemas.openxmlformats.org/officeDocument/2006/relationships" id="265" r:id="Ra3546b4029674941"/>
    <p:sldId xmlns:r="http://schemas.openxmlformats.org/officeDocument/2006/relationships" id="266" r:id="Rfed6fa7f4cf344c3"/>
    <p:sldId xmlns:r="http://schemas.openxmlformats.org/officeDocument/2006/relationships" id="267" r:id="Ree779627c79f4a7e"/>
    <p:sldId xmlns:r="http://schemas.openxmlformats.org/officeDocument/2006/relationships" id="268" r:id="R043f5cf07f194ca8"/>
    <p:sldId xmlns:r="http://schemas.openxmlformats.org/officeDocument/2006/relationships" id="269" r:id="R5c5fe623eb1b4c14"/>
    <p:sldId xmlns:r="http://schemas.openxmlformats.org/officeDocument/2006/relationships" id="270" r:id="Rf1e2cca93f5a45de"/>
    <p:sldId xmlns:r="http://schemas.openxmlformats.org/officeDocument/2006/relationships" id="271" r:id="R03aa822134b04bb7"/>
    <p:sldId xmlns:r="http://schemas.openxmlformats.org/officeDocument/2006/relationships" id="272" r:id="R672ef462e8184081"/>
    <p:sldId xmlns:r="http://schemas.openxmlformats.org/officeDocument/2006/relationships" id="273" r:id="R086bda3e797f4c2a"/>
    <p:sldId xmlns:r="http://schemas.openxmlformats.org/officeDocument/2006/relationships" id="274" r:id="R45c7905614924c64"/>
    <p:sldId xmlns:r="http://schemas.openxmlformats.org/officeDocument/2006/relationships" id="275" r:id="R2954898e89664714"/>
    <p:sldId xmlns:r="http://schemas.openxmlformats.org/officeDocument/2006/relationships" id="276" r:id="Rd11e04722f7444a3"/>
    <p:sldId xmlns:r="http://schemas.openxmlformats.org/officeDocument/2006/relationships" id="277" r:id="R59b954e98d7e40de"/>
    <p:sldId xmlns:r="http://schemas.openxmlformats.org/officeDocument/2006/relationships" id="278" r:id="Rc3d33729e7e04f36"/>
    <p:sldId xmlns:r="http://schemas.openxmlformats.org/officeDocument/2006/relationships" id="279" r:id="R5f2fef4986624ae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14dba9d34a4214" /><Relationship Type="http://schemas.openxmlformats.org/officeDocument/2006/relationships/slideMaster" Target="/ppt/slideMasters/slideMaster1.xml" Id="R178ec0118e5a405f" /><Relationship Type="http://schemas.openxmlformats.org/officeDocument/2006/relationships/notesMaster" Target="/ppt/notesMasters/notesMaster1.xml" Id="R9b697e2811e3462e" /><Relationship Type="http://schemas.openxmlformats.org/officeDocument/2006/relationships/presProps" Target="/ppt/presProps.xml" Id="R5d7f1455ea834f80" /><Relationship Type="http://schemas.openxmlformats.org/officeDocument/2006/relationships/tableStyles" Target="/ppt/tableStyles.xml" Id="R8e9e33c135cf4587" /><Relationship Type="http://schemas.openxmlformats.org/officeDocument/2006/relationships/slide" Target="/ppt/slides/slide1.xml" Id="Ra29efc62c0264c07" /><Relationship Type="http://schemas.openxmlformats.org/officeDocument/2006/relationships/slide" Target="/ppt/slides/slide2.xml" Id="R3f6f662b9df646b7" /><Relationship Type="http://schemas.openxmlformats.org/officeDocument/2006/relationships/slide" Target="/ppt/slides/slide3.xml" Id="R331a9078e6614b96" /><Relationship Type="http://schemas.openxmlformats.org/officeDocument/2006/relationships/slide" Target="/ppt/slides/slide4.xml" Id="R10fe7d5263dd471d" /><Relationship Type="http://schemas.openxmlformats.org/officeDocument/2006/relationships/slide" Target="/ppt/slides/slide5.xml" Id="Rde16c4890e4c4ffd" /><Relationship Type="http://schemas.openxmlformats.org/officeDocument/2006/relationships/slide" Target="/ppt/slides/slide6.xml" Id="Rb18572c29ef94e07" /><Relationship Type="http://schemas.openxmlformats.org/officeDocument/2006/relationships/slide" Target="/ppt/slides/slide7.xml" Id="R70c022142efc4d00" /><Relationship Type="http://schemas.openxmlformats.org/officeDocument/2006/relationships/slide" Target="/ppt/slides/slide8.xml" Id="R9f0831f00be4484a" /><Relationship Type="http://schemas.openxmlformats.org/officeDocument/2006/relationships/slide" Target="/ppt/slides/slide9.xml" Id="R3c58cf391ea34577" /><Relationship Type="http://schemas.openxmlformats.org/officeDocument/2006/relationships/slide" Target="/ppt/slides/slide10.xml" Id="Ra3546b4029674941" /><Relationship Type="http://schemas.openxmlformats.org/officeDocument/2006/relationships/slide" Target="/ppt/slides/slide11.xml" Id="Rfed6fa7f4cf344c3" /><Relationship Type="http://schemas.openxmlformats.org/officeDocument/2006/relationships/slide" Target="/ppt/slides/slide12.xml" Id="Ree779627c79f4a7e" /><Relationship Type="http://schemas.openxmlformats.org/officeDocument/2006/relationships/slide" Target="/ppt/slides/slide13.xml" Id="R043f5cf07f194ca8" /><Relationship Type="http://schemas.openxmlformats.org/officeDocument/2006/relationships/slide" Target="/ppt/slides/slide14.xml" Id="R5c5fe623eb1b4c14" /><Relationship Type="http://schemas.openxmlformats.org/officeDocument/2006/relationships/slide" Target="/ppt/slides/slide15.xml" Id="Rf1e2cca93f5a45de" /><Relationship Type="http://schemas.openxmlformats.org/officeDocument/2006/relationships/slide" Target="/ppt/slides/slide16.xml" Id="R03aa822134b04bb7" /><Relationship Type="http://schemas.openxmlformats.org/officeDocument/2006/relationships/slide" Target="/ppt/slides/slide17.xml" Id="R672ef462e8184081" /><Relationship Type="http://schemas.openxmlformats.org/officeDocument/2006/relationships/slide" Target="/ppt/slides/slide18.xml" Id="R086bda3e797f4c2a" /><Relationship Type="http://schemas.openxmlformats.org/officeDocument/2006/relationships/slide" Target="/ppt/slides/slide19.xml" Id="R45c7905614924c64" /><Relationship Type="http://schemas.openxmlformats.org/officeDocument/2006/relationships/slide" Target="/ppt/slides/slide20.xml" Id="R2954898e89664714" /><Relationship Type="http://schemas.openxmlformats.org/officeDocument/2006/relationships/slide" Target="/ppt/slides/slide21.xml" Id="Rd11e04722f7444a3" /><Relationship Type="http://schemas.openxmlformats.org/officeDocument/2006/relationships/slide" Target="/ppt/slides/slide22.xml" Id="R59b954e98d7e40de" /><Relationship Type="http://schemas.openxmlformats.org/officeDocument/2006/relationships/slide" Target="/ppt/slides/slide23.xml" Id="Rc3d33729e7e04f36" /><Relationship Type="http://schemas.openxmlformats.org/officeDocument/2006/relationships/slide" Target="/ppt/slides/slide24.xml" Id="R5f2fef4986624a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3ebf07072a4c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287df0086547ec" /><Relationship Type="http://schemas.openxmlformats.org/officeDocument/2006/relationships/notesMaster" Target="/ppt/notesMasters/notesMaster1.xml" Id="Rcce4ec4c57954e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1e484746654f55" /><Relationship Type="http://schemas.openxmlformats.org/officeDocument/2006/relationships/notesMaster" Target="/ppt/notesMasters/notesMaster1.xml" Id="R96f19c95857041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21305d2eb5406b" /><Relationship Type="http://schemas.openxmlformats.org/officeDocument/2006/relationships/notesMaster" Target="/ppt/notesMasters/notesMaster1.xml" Id="R43777b7e2f5349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8644e2c34a4540" /><Relationship Type="http://schemas.openxmlformats.org/officeDocument/2006/relationships/notesMaster" Target="/ppt/notesMasters/notesMaster1.xml" Id="R3bce83ec7e4b48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2a300ced0d4297" /><Relationship Type="http://schemas.openxmlformats.org/officeDocument/2006/relationships/notesMaster" Target="/ppt/notesMasters/notesMaster1.xml" Id="Re7333cc6311445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9ad923f5e64bfb" /><Relationship Type="http://schemas.openxmlformats.org/officeDocument/2006/relationships/notesMaster" Target="/ppt/notesMasters/notesMaster1.xml" Id="R91313012497942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6b73456d26d4214" /><Relationship Type="http://schemas.openxmlformats.org/officeDocument/2006/relationships/notesMaster" Target="/ppt/notesMasters/notesMaster1.xml" Id="Rf2146c56678241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ddf497db0174b55" /><Relationship Type="http://schemas.openxmlformats.org/officeDocument/2006/relationships/notesMaster" Target="/ppt/notesMasters/notesMaster1.xml" Id="Raf27f2487c4f4ed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a1583ed53194295" /><Relationship Type="http://schemas.openxmlformats.org/officeDocument/2006/relationships/notesMaster" Target="/ppt/notesMasters/notesMaster1.xml" Id="R35a1a645387045e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50794be9ae84878" /><Relationship Type="http://schemas.openxmlformats.org/officeDocument/2006/relationships/notesMaster" Target="/ppt/notesMasters/notesMaster1.xml" Id="R276cc142794b49d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aead383278b451e" /><Relationship Type="http://schemas.openxmlformats.org/officeDocument/2006/relationships/notesMaster" Target="/ppt/notesMasters/notesMaster1.xml" Id="R8fbc754f70d84c5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d2a38072b434e4e" /><Relationship Type="http://schemas.openxmlformats.org/officeDocument/2006/relationships/notesMaster" Target="/ppt/notesMasters/notesMaster1.xml" Id="R3e1a0f265ecf49a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883ff3cfb0b4415" /><Relationship Type="http://schemas.openxmlformats.org/officeDocument/2006/relationships/notesMaster" Target="/ppt/notesMasters/notesMaster1.xml" Id="R95466ae54866403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14d1c67ceb5483b" /><Relationship Type="http://schemas.openxmlformats.org/officeDocument/2006/relationships/notesMaster" Target="/ppt/notesMasters/notesMaster1.xml" Id="R875569c2e7b343e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43e45bca2774b16" /><Relationship Type="http://schemas.openxmlformats.org/officeDocument/2006/relationships/notesMaster" Target="/ppt/notesMasters/notesMaster1.xml" Id="R85eee7e5c02542e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582e891bb774e67" /><Relationship Type="http://schemas.openxmlformats.org/officeDocument/2006/relationships/notesMaster" Target="/ppt/notesMasters/notesMaster1.xml" Id="R52a93dafb0ec4c7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d7c3baa778f4623" /><Relationship Type="http://schemas.openxmlformats.org/officeDocument/2006/relationships/notesMaster" Target="/ppt/notesMasters/notesMaster1.xml" Id="Refec55ba8925499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5a76073e7b54927" /><Relationship Type="http://schemas.openxmlformats.org/officeDocument/2006/relationships/notesMaster" Target="/ppt/notesMasters/notesMaster1.xml" Id="R9e72a6238624404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3cd4d8d15124026" /><Relationship Type="http://schemas.openxmlformats.org/officeDocument/2006/relationships/notesMaster" Target="/ppt/notesMasters/notesMaster1.xml" Id="Rf32dd81200ac48d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34d715b918d4911" /><Relationship Type="http://schemas.openxmlformats.org/officeDocument/2006/relationships/notesMaster" Target="/ppt/notesMasters/notesMaster1.xml" Id="Rf3526a9a5c674a0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0a01e01e4e348fb" /><Relationship Type="http://schemas.openxmlformats.org/officeDocument/2006/relationships/notesMaster" Target="/ppt/notesMasters/notesMaster1.xml" Id="R7bfe5e955b054bd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8bc04d339a14563" /><Relationship Type="http://schemas.openxmlformats.org/officeDocument/2006/relationships/notesMaster" Target="/ppt/notesMasters/notesMaster1.xml" Id="R8852663b6440483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05f5f0d131942a2" /><Relationship Type="http://schemas.openxmlformats.org/officeDocument/2006/relationships/notesMaster" Target="/ppt/notesMasters/notesMaster1.xml" Id="R6b2ff27b7f1e45e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5d52823a584480f" /><Relationship Type="http://schemas.openxmlformats.org/officeDocument/2006/relationships/notesMaster" Target="/ppt/notesMasters/notesMaster1.xml" Id="Rd7ab9a1a57294b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Profound Counsel Memorandum - Working Draft Revision 1.00 - 080626.</a:t>
            </a:r>
          </a:p>
          <a:p xmlns:a="http://schemas.openxmlformats.org/drawingml/2006/main">
            <a:r>
              <a:t>- Profound Financial Advisor Memorandum - Working Draft Revision 1.00 - 080626.</a:t>
            </a:r>
          </a:p>
          <a:p xmlns:a="http://schemas.openxmlformats.org/drawingml/2006/main">
            <a:r>
              <a:t>- Internal working assumptions confirmed by Geoff Schackmann, August 6–7,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upfront contract for the four-hour working session.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working assumptions confirmed by Geoff Schackmann, August 6,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Profound Counsel Memorandum - Working Draft Revision 1.00 - 080626.</a:t>
            </a:r>
          </a:p>
          <a:p xmlns:a="http://schemas.openxmlformats.org/drawingml/2006/main">
            <a:r>
              <a:t>- Profound Financial Advisor Memorandum - Working Draft Revision 1.00 - 080626.</a:t>
            </a:r>
          </a:p>
          <a:p xmlns:a="http://schemas.openxmlformats.org/drawingml/2006/main">
            <a:r>
              <a:t>- Internal working assumptions confirmed by Geoff Schackmann, August 6–7,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Profound Counsel Memorandum - Working Draft Revision 1.00 - 080626.</a:t>
            </a:r>
          </a:p>
          <a:p xmlns:a="http://schemas.openxmlformats.org/drawingml/2006/main">
            <a:r>
              <a:t>- Profound Financial Advisor Memorandum - Working Draft Revision 1.00 - 080626.</a:t>
            </a:r>
          </a:p>
          <a:p xmlns:a="http://schemas.openxmlformats.org/drawingml/2006/main">
            <a:r>
              <a:t>- Internal working assumptions confirmed by Geoff Schackmann, August 6–7,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Profound Counsel Memorandum - Working Draft Revision 1.00 - 080626.</a:t>
            </a:r>
          </a:p>
          <a:p xmlns:a="http://schemas.openxmlformats.org/drawingml/2006/main">
            <a:r>
              <a:t>- Profound Financial Advisor Memorandum - Working Draft Revision 1.00 - 080626.</a:t>
            </a:r>
          </a:p>
          <a:p xmlns:a="http://schemas.openxmlformats.org/drawingml/2006/main">
            <a:r>
              <a:t>- Internal working assumptions confirmed by Geoff Schackmann, August 6–7,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Profound Counsel Memorandum - Working Draft Revision 1.00 - 080626.</a:t>
            </a:r>
          </a:p>
          <a:p xmlns:a="http://schemas.openxmlformats.org/drawingml/2006/main">
            <a:r>
              <a:t>- Profound Financial Advisor Memorandum - Working Draft Revision 1.00 - 080626.</a:t>
            </a:r>
          </a:p>
          <a:p xmlns:a="http://schemas.openxmlformats.org/drawingml/2006/main">
            <a:r>
              <a:t>- Internal working assumptions confirmed by Geoff Schackmann, August 6–7,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Profound Counsel Memorandum - Working Draft Revision 1.00 - 080626.</a:t>
            </a:r>
          </a:p>
          <a:p xmlns:a="http://schemas.openxmlformats.org/drawingml/2006/main">
            <a:r>
              <a:t>- Profound Financial Advisor Memorandum - Working Draft Revision 1.00 - 080626.</a:t>
            </a:r>
          </a:p>
          <a:p xmlns:a="http://schemas.openxmlformats.org/drawingml/2006/main">
            <a:r>
              <a:t>- Internal working assumptions confirmed by Geoff Schackmann, August 6–7,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Silas should lead this section and invite Patrick to map his existing team into the roles.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Texas HHSC ADS guidance on authority and supervision: https://apps.hhs.texas.gov/providers/hcssa/cbt/module6/HCSSA_PresurveyCBT_Module_6_0603202121.html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present FireNote as predetermined. Present a controlled clinical review and shared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FireNote product claims (vendor-provided): https://firenote.health/compliance-solutions and https://firenote.health/how-firenote-works</a:t>
            </a:r>
          </a:p>
          <a:p xmlns:a="http://schemas.openxmlformats.org/drawingml/2006/main">
            <a:r>
              <a:t>- Hospice Tools pricing and product claims (vendor-provided): https://www.hospicetools.com/pricing/</a:t>
            </a:r>
          </a:p>
          <a:p xmlns:a="http://schemas.openxmlformats.org/drawingml/2006/main">
            <a:r>
              <a:t>- DME Express integration claims (vendor-provided): https://dmeexpress.com/technology/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Offer to schedule this follow-up immediately. The clinical users should decide against agreed acceptance criteria.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- 42 C.F.R. § 418.104: https://www.law.cornell.edu/cfr/text/42/418.104</a:t>
            </a:r>
          </a:p>
          <a:p xmlns:a="http://schemas.openxmlformats.org/drawingml/2006/main">
            <a:r>
              <a:t>- CMS-855A medical-record storage and provider-control instructions: https://www.cms.gov/medicare/cms-forms/cms-forms/downloads/cms855a.pdf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promise that two unrelated payroll providers can file under one EIN. The base case requires one filer.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- 42 C.F.R. § 418.64 core-services employment rule: https://ecfr.io/Title-42/Section-418.64</a:t>
            </a:r>
          </a:p>
          <a:p xmlns:a="http://schemas.openxmlformats.org/drawingml/2006/main">
            <a:r>
              <a:t>- 42 C.F.R. § 418.100 governing-body and administrator requirements: https://www.ecfr.gov/current/title-42/chapter-IV/subchapter-B/part-418/subpart-D/section-418.100</a:t>
            </a:r>
          </a:p>
          <a:p xmlns:a="http://schemas.openxmlformats.org/drawingml/2006/main">
            <a:r>
              <a:t>- Gusto guidance on one filer per quarter: https://support.gusto.com/article/250327190420853/payroll-tax-responsibilities-when-switching-to-gusto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Profound Counsel Memorandum - Working Draft Revision 1.00 - 080626.</a:t>
            </a:r>
          </a:p>
          <a:p xmlns:a="http://schemas.openxmlformats.org/drawingml/2006/main">
            <a:r>
              <a:t>- Profound Financial Advisor Memorandum - Working Draft Revision 1.00 - 080626.</a:t>
            </a:r>
          </a:p>
          <a:p xmlns:a="http://schemas.openxmlformats.org/drawingml/2006/main">
            <a:r>
              <a:t>- Internal working assumptions confirmed by Geoff Schackmann, August 6–7,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Patrick to identify his MAC, accreditation organization, current licensed service area and TULIP access during the meeting.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Tyler ADS address provided by Geoff Schackmann on August 6, 2026.</a:t>
            </a:r>
          </a:p>
          <a:p xmlns:a="http://schemas.openxmlformats.org/drawingml/2006/main">
            <a:r>
              <a:t>- Texas TULIP training guide: https://www.hhs.texas.gov/sites/default/files/documents/doing-business-with-hhs/licensing-credentialing-regulation/tulip/tulip-training-guide.pdf</a:t>
            </a:r>
          </a:p>
          <a:p xmlns:a="http://schemas.openxmlformats.org/drawingml/2006/main">
            <a:r>
              <a:t>- Texas HHSC ADS guidance: https://apps.hhs.texas.gov/providers/hcssa/cbt/module6/HCSSA_PresurveyCBT_Module_6_0603202121.html</a:t>
            </a:r>
          </a:p>
          <a:p xmlns:a="http://schemas.openxmlformats.org/drawingml/2006/main">
            <a:r>
              <a:t>- 42 C.F.R. § 418.100(f): https://www.ecfr.gov/current/title-42/chapter-IV/subchapter-B/part-418/subpart-D/section-418.100</a:t>
            </a:r>
          </a:p>
          <a:p xmlns:a="http://schemas.openxmlformats.org/drawingml/2006/main">
            <a:r>
              <a:t>- CMS-855A, Section 4: https://www.cms.gov/medicare/cms-forms/cms-forms/downloads/cms855a.pdf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discussion draft. Resolve role conflicts in the detailed appendix.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working assumptions confirmed by Geoff Schackmann, August 6,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Profound Counsel Memorandum - Working Draft Revision 1.00 - 080626.</a:t>
            </a:r>
          </a:p>
          <a:p xmlns:a="http://schemas.openxmlformats.org/drawingml/2006/main">
            <a:r>
              <a:t>- Profound Financial Advisor Memorandum - Working Draft Revision 1.00 - 080626.</a:t>
            </a:r>
          </a:p>
          <a:p xmlns:a="http://schemas.openxmlformats.org/drawingml/2006/main">
            <a:r>
              <a:t>- Internal working assumptions confirmed by Geoff Schackmann, August 6–7,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Profound Counsel Memorandum - Working Draft Revision 1.00 - 080626.</a:t>
            </a:r>
          </a:p>
          <a:p xmlns:a="http://schemas.openxmlformats.org/drawingml/2006/main">
            <a:r>
              <a:t>- Profound Financial Advisor Memorandum - Working Draft Revision 1.00 - 080626.</a:t>
            </a:r>
          </a:p>
          <a:p xmlns:a="http://schemas.openxmlformats.org/drawingml/2006/main">
            <a:r>
              <a:t>- Internal working assumptions confirmed by Geoff Schackmann, August 6–7,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Profound Counsel Memorandum - Working Draft Revision 1.00 - 080626.</a:t>
            </a:r>
          </a:p>
          <a:p xmlns:a="http://schemas.openxmlformats.org/drawingml/2006/main">
            <a:r>
              <a:t>- Profound Financial Advisor Memorandum - Working Draft Revision 1.00 - 080626.</a:t>
            </a:r>
          </a:p>
          <a:p xmlns:a="http://schemas.openxmlformats.org/drawingml/2006/main">
            <a:r>
              <a:t>- Internal working assumptions confirmed by Geoff Schackmann, August 6–7,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Profound Counsel Memorandum - Working Draft Revision 1.00 - 080626.</a:t>
            </a:r>
          </a:p>
          <a:p xmlns:a="http://schemas.openxmlformats.org/drawingml/2006/main">
            <a:r>
              <a:t>- Profound Financial Advisor Memorandum - Working Draft Revision 1.00 - 080626.</a:t>
            </a:r>
          </a:p>
          <a:p xmlns:a="http://schemas.openxmlformats.org/drawingml/2006/main">
            <a:r>
              <a:t>- Internal working assumptions confirmed by Geoff Schackmann, August 6–7,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Profound Counsel Memorandum - Working Draft Revision 1.00 - 080626.</a:t>
            </a:r>
          </a:p>
          <a:p xmlns:a="http://schemas.openxmlformats.org/drawingml/2006/main">
            <a:r>
              <a:t>- Profound Financial Advisor Memorandum - Working Draft Revision 1.00 - 080626.</a:t>
            </a:r>
          </a:p>
          <a:p xmlns:a="http://schemas.openxmlformats.org/drawingml/2006/main">
            <a:r>
              <a:t>- Internal working assumptions confirmed by Geoff Schackmann, August 6–7,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working assumptions confirmed by Geoff Schackmann, August 6,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Texas TULIP training guide: https://www.hhs.texas.gov/sites/default/files/documents/doing-business-with-hhs/licensing-credentialing-regulation/tulip/tulip-training-guide.pdf</a:t>
            </a:r>
          </a:p>
          <a:p xmlns:a="http://schemas.openxmlformats.org/drawingml/2006/main">
            <a:r>
              <a:t>- CMS-855A: https://www.cms.gov/medicare/cms-forms/cms-forms/downloads/cms855a.pdf</a:t>
            </a:r>
          </a:p>
          <a:p xmlns:a="http://schemas.openxmlformats.org/drawingml/2006/main">
            <a:r>
              <a:t>- 42 C.F.R. § 418.100(f): https://www.ecfr.gov/current/title-42/chapter-IV/subchapter-B/part-418/subpart-D/section-418.100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working assumptions confirmed by Geoff Schackmann, August 6,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- 42 C.F.R. § 418.104: https://www.law.cornell.edu/cfr/text/42/418.104</a:t>
            </a:r>
          </a:p>
          <a:p xmlns:a="http://schemas.openxmlformats.org/drawingml/2006/main">
            <a:r>
              <a:t>- CMS-855A: https://www.cms.gov/medicare/cms-forms/cms-forms/downloads/cms855a.pdf</a:t>
            </a:r>
          </a:p>
          <a:p xmlns:a="http://schemas.openxmlformats.org/drawingml/2006/main">
            <a:r>
              <a:t>- Gusto filing guidance: https://support.gusto.com/article/250327190420853/payroll-tax-responsibilities-when-switching-to-gusto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Texas TULIP training guide: https://www.hhs.texas.gov/sites/default/files/documents/doing-business-with-hhs/licensing-credentialing-regulation/tulip/tulip-training-guide.pdf</a:t>
            </a:r>
          </a:p>
          <a:p xmlns:a="http://schemas.openxmlformats.org/drawingml/2006/main">
            <a:r>
              <a:t>- CMS institutional enrollment guidance: https://www.cms.gov/medicare/enrollment-renewal/providers-suppliers/chain-ownership-system-pecos/enroll-as-institutional-provider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6869200b8b4b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ad394fba864627" /><Relationship Type="http://schemas.openxmlformats.org/officeDocument/2006/relationships/slideLayout" Target="/ppt/slideLayouts/slideLayout1.xml" Id="Re10a14c094354a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0a14c094354a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de82c2c50a4902" /><Relationship Type="http://schemas.openxmlformats.org/officeDocument/2006/relationships/notesSlide" Target="/ppt/notesSlides/notesSlide1.xml" Id="R2036b894ce9a4c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3dfaf4fee74cf5" /><Relationship Type="http://schemas.openxmlformats.org/officeDocument/2006/relationships/notesSlide" Target="/ppt/notesSlides/notesSlide2.xml" Id="Rb58ce1e77e3749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ea5c716eea46f3" /><Relationship Type="http://schemas.openxmlformats.org/officeDocument/2006/relationships/notesSlide" Target="/ppt/notesSlides/notesSlide3.xml" Id="Rbaaa067ec10f4a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2c2f6eed844855" /><Relationship Type="http://schemas.openxmlformats.org/officeDocument/2006/relationships/notesSlide" Target="/ppt/notesSlides/notesSlide4.xml" Id="R8ccfb942641a4e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d8141a5d4241f3" /><Relationship Type="http://schemas.openxmlformats.org/officeDocument/2006/relationships/notesSlide" Target="/ppt/notesSlides/notesSlide5.xml" Id="Rf41390afd5ae43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335366608e496b" /><Relationship Type="http://schemas.openxmlformats.org/officeDocument/2006/relationships/notesSlide" Target="/ppt/notesSlides/notesSlide6.xml" Id="R0519a11f063544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0396eb0fe04fbc" /><Relationship Type="http://schemas.openxmlformats.org/officeDocument/2006/relationships/notesSlide" Target="/ppt/notesSlides/notesSlide7.xml" Id="Reca4b5bf5f3b49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669500d1274d14" /><Relationship Type="http://schemas.openxmlformats.org/officeDocument/2006/relationships/notesSlide" Target="/ppt/notesSlides/notesSlide8.xml" Id="Rd5393200f02547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172ce84c074e1d" /><Relationship Type="http://schemas.openxmlformats.org/officeDocument/2006/relationships/notesSlide" Target="/ppt/notesSlides/notesSlide9.xml" Id="R06c8785645de4cb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8c6901e6024b29" /><Relationship Type="http://schemas.openxmlformats.org/officeDocument/2006/relationships/notesSlide" Target="/ppt/notesSlides/notesSlide10.xml" Id="R53ce5ff3594c482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e8b22f768d4427" /><Relationship Type="http://schemas.openxmlformats.org/officeDocument/2006/relationships/notesSlide" Target="/ppt/notesSlides/notesSlide11.xml" Id="Rc267d3cb54514a9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304f1e3bd54d17" /><Relationship Type="http://schemas.openxmlformats.org/officeDocument/2006/relationships/notesSlide" Target="/ppt/notesSlides/notesSlide12.xml" Id="Rbc6c4b38bad1427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8c20e87337476d" /><Relationship Type="http://schemas.openxmlformats.org/officeDocument/2006/relationships/notesSlide" Target="/ppt/notesSlides/notesSlide13.xml" Id="R378e7171fbb6442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7e4734438945c0" /><Relationship Type="http://schemas.openxmlformats.org/officeDocument/2006/relationships/notesSlide" Target="/ppt/notesSlides/notesSlide14.xml" Id="R46f818fd55d64fc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d3f38783544760" /><Relationship Type="http://schemas.openxmlformats.org/officeDocument/2006/relationships/notesSlide" Target="/ppt/notesSlides/notesSlide15.xml" Id="Rcf7e6808ca35464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7b1ca0da6b44f3" /><Relationship Type="http://schemas.openxmlformats.org/officeDocument/2006/relationships/notesSlide" Target="/ppt/notesSlides/notesSlide16.xml" Id="R583f57ac52ca4a4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92a49895d84748" /><Relationship Type="http://schemas.openxmlformats.org/officeDocument/2006/relationships/notesSlide" Target="/ppt/notesSlides/notesSlide17.xml" Id="Radd0b3fc46d141d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9f703aa2b74404" /><Relationship Type="http://schemas.openxmlformats.org/officeDocument/2006/relationships/notesSlide" Target="/ppt/notesSlides/notesSlide18.xml" Id="R950add0447b64d2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1dd03f4e414ee9" /><Relationship Type="http://schemas.openxmlformats.org/officeDocument/2006/relationships/notesSlide" Target="/ppt/notesSlides/notesSlide19.xml" Id="Ra1033de2a9bb48e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9d16a0ccc540c1" /><Relationship Type="http://schemas.openxmlformats.org/officeDocument/2006/relationships/notesSlide" Target="/ppt/notesSlides/notesSlide20.xml" Id="R6505b09997ab41c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bf030880c745c3" /><Relationship Type="http://schemas.openxmlformats.org/officeDocument/2006/relationships/notesSlide" Target="/ppt/notesSlides/notesSlide21.xml" Id="R5f76d2feb80c414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846d03909e49d8" /><Relationship Type="http://schemas.openxmlformats.org/officeDocument/2006/relationships/notesSlide" Target="/ppt/notesSlides/notesSlide22.xml" Id="R32afb42f66214a5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6ff495ce00496b" /><Relationship Type="http://schemas.openxmlformats.org/officeDocument/2006/relationships/notesSlide" Target="/ppt/notesSlides/notesSlide23.xml" Id="Rb97d65b016684bc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87f442d07242eb" /><Relationship Type="http://schemas.openxmlformats.org/officeDocument/2006/relationships/notesSlide" Target="/ppt/notesSlides/notesSlide24.xml" Id="R405e3242bcd5464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21D69F-2397-4ADB-86E8-AF87C691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WORKING SESSION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A4E0E3-0D6E-4A2D-A622-708BE6F5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9334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000000"/>
                </a:solidFill>
              </a:defRPr>
            </a:pPr>
            <a:r>
              <a:rPr sz="4950" b="1">
                <a:solidFill>
                  <a:srgbClr val="000000"/>
                </a:solidFill>
              </a:rPr>
              <a:t>Profound × Azalea</a:t>
            </a:r>
          </a:p>
          <a:p xmlns:a="http://schemas.openxmlformats.org/drawingml/2006/main">
            <a:pPr algn="l">
              <a:buNone/>
              <a:defRPr sz="4950" b="1">
                <a:solidFill>
                  <a:srgbClr val="000000"/>
                </a:solidFill>
              </a:defRPr>
            </a:pPr>
            <a:r>
              <a:rPr sz="4950" b="1">
                <a:solidFill>
                  <a:srgbClr val="000000"/>
                </a:solidFill>
              </a:rPr>
              <a:t>Tyler ADS Partnership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F2DAEC-9ECE-4537-BB93-CD24DF94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33875"/>
            <a:ext cx="4857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F74773-2440-4A1F-ADB8-B3609B24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86300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August 10, 2026  |  1:00–5:00 p.m. CT  |  Austin area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E4969D-1E5A-44AF-99EE-770F6D76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Objective: sign the framework, assign the launch work, and begin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178478556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38CD7A-A37A-43AF-B852-DE52ECD7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DF1FA8-2DFB-42E3-8192-180C6B11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Today should convert alignment into an executable path</a:t>
            </a:r>
          </a:p>
        </p:txBody>
      </p:sp>
      <p:cxnSp>
        <p:nvCxnSpPr>
          <p:cNvPr id="65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C7B67E-417B-453D-BEE0-E18FCC29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02</a:t>
            </a:r>
          </a:p>
        </p:txBody>
      </p:sp>
      <p:cxnSp>
        <p:nvCxnSpPr>
          <p:cNvPr id="67" name=""/>
          <p:cNvCxnSpPr/>
          <p:nvPr/>
        </p:nvCxnSpPr>
        <p:spPr>
          <a:xfrm xmlns:a="http://schemas.openxmlformats.org/drawingml/2006/main">
            <a:off x="400050" y="20859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EEC674-55E5-4D9D-B336-587044B8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6210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BE2EAA-03DD-470B-A74C-68327759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562100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Confirm the operating and economic framework</a:t>
            </a:r>
          </a:p>
        </p:txBody>
      </p:sp>
      <p:cxnSp>
        <p:nvCxnSpPr>
          <p:cNvPr id="70" name=""/>
          <p:cNvCxnSpPr/>
          <p:nvPr/>
        </p:nvCxnSpPr>
        <p:spPr>
          <a:xfrm xmlns:a="http://schemas.openxmlformats.org/drawingml/2006/main">
            <a:off x="400050" y="27717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9BAD71-0EF8-4812-BBE6-89A6FBC6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24790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D3323D-3792-48A1-B8E1-BA44D6E2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47900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Resolve authority, staffing, payroll, EMR and vendor decisions</a:t>
            </a:r>
          </a:p>
        </p:txBody>
      </p:sp>
      <p:cxnSp>
        <p:nvCxnSpPr>
          <p:cNvPr id="73" name=""/>
          <p:cNvCxnSpPr/>
          <p:nvPr/>
        </p:nvCxnSpPr>
        <p:spPr>
          <a:xfrm xmlns:a="http://schemas.openxmlformats.org/drawingml/2006/main">
            <a:off x="400050" y="34575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6662DB-7EE6-4BDE-898E-19502ABA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93370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9444C9-A4A8-46B0-84A1-6F411ACF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33700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Agree on TULIP, PECOS and Medicare approval workstreams</a:t>
            </a:r>
          </a:p>
        </p:txBody>
      </p:sp>
      <p:cxnSp>
        <p:nvCxnSpPr>
          <p:cNvPr id="76" name=""/>
          <p:cNvCxnSpPr/>
          <p:nvPr/>
        </p:nvCxnSpPr>
        <p:spPr>
          <a:xfrm xmlns:a="http://schemas.openxmlformats.org/drawingml/2006/main">
            <a:off x="400050" y="41433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495CF0-7613-4E6D-BD61-B7AB1E1C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63C051-B4E0-475E-841A-F353117E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19500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Assign accountable owners and target dates</a:t>
            </a:r>
          </a:p>
        </p:txBody>
      </p:sp>
      <p:cxnSp>
        <p:nvCxnSpPr>
          <p:cNvPr id="79" name=""/>
          <p:cNvCxnSpPr/>
          <p:nvPr/>
        </p:nvCxnSpPr>
        <p:spPr>
          <a:xfrm xmlns:a="http://schemas.openxmlformats.org/drawingml/2006/main">
            <a:off x="400050" y="48291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1BBF69-A35B-4A58-8E8A-750BD363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30530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1C8C06-6EC1-44DD-8198-FB68F60E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05300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Approve the advisor packages and document architecture</a:t>
            </a:r>
          </a:p>
        </p:txBody>
      </p:sp>
      <p:cxnSp>
        <p:nvCxnSpPr>
          <p:cNvPr id="82" name=""/>
          <p:cNvCxnSpPr/>
          <p:nvPr/>
        </p:nvCxnSpPr>
        <p:spPr>
          <a:xfrm xmlns:a="http://schemas.openxmlformats.org/drawingml/2006/main">
            <a:off x="400050" y="55149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244174-19EE-45C8-8C38-45DFE02F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99110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291E6B-E43C-4828-A012-B3E4B223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91100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Finalize the non-binding term sheet for signature</a:t>
            </a:r>
          </a:p>
        </p:txBody>
      </p:sp>
    </p:spTree>
    <p:extLst>
      <p:ext uri="{BB962C8B-B14F-4D97-AF65-F5344CB8AC3E}">
        <p14:creationId xmlns:p14="http://schemas.microsoft.com/office/powerpoint/2010/main" val="81021489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B245B0-49E7-4659-8491-5E8793B5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685039-56CB-4FD2-B3E3-6B9A7CD6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concept is aligned; documentation and launch controls remain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A3BE74-2DAD-4985-B9FF-DD858E05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74DDCA-EE08-4A40-AF16-DC7A8F0D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5381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CBA2CB-F65D-4343-90DB-9F3F5A54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4924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Aligned in 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2297D7-D88A-4CC4-91FA-73FD80D7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49244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• Tyler ADS under Profound’s provider platform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• Azalea funds the Tyler operation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• $7,500 monthly implementation and oversight fee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• Direct costs reimbursed at cost, without markup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46409E-CFE4-484B-A1FC-A22A2AC4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19250"/>
            <a:ext cx="5772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125BD5-7317-4BE2-BCBA-2518F9E0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28800"/>
            <a:ext cx="531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Still to document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CE872B-71BB-4E8D-B40B-0893F3D8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47900"/>
            <a:ext cx="53149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• Profound authority and the launch go/no-go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• September payment instrument and Patrick’s transition election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• Payroll, EMR, billing, vendor and cash controls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• Advisor redlines and definitive-document 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DA17AC-4F87-46FE-A848-76D620AA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Working status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06DD96-2116-401E-9562-9034AD2D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00000"/>
                </a:solidFill>
              </a:defRPr>
            </a:pPr>
            <a:r>
              <a:rPr sz="2325" b="1">
                <a:solidFill>
                  <a:srgbClr val="000000"/>
                </a:solidFill>
              </a:rPr>
              <a:t>Agreement in principle — subject to financial-advisor review, legal review, regulatory approval and definitive documents.</a:t>
            </a:r>
          </a:p>
        </p:txBody>
      </p:sp>
    </p:spTree>
    <p:extLst>
      <p:ext uri="{BB962C8B-B14F-4D97-AF65-F5344CB8AC3E}">
        <p14:creationId xmlns:p14="http://schemas.microsoft.com/office/powerpoint/2010/main" val="68526666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929134-BC26-4568-BED8-ACD65C68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05C354-335B-46B9-9D8A-40B0130A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Profound receives near-term economics without funding the Tyler launch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5452AD-EA32-4766-8354-76FF2332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25BB07-F209-4B11-B1E5-C1153D9A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5623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456B6B-66F3-48FA-A138-D0A9768D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Immediate value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83DB9F-99A2-4C8E-BD4E-00881BE8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310515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$7,500 monthly fee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Full reimbursement of direct Tyler costs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No Tyler capital obligation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Transition consideration selected by Patrick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820942-7621-472A-998D-21F24D89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619250"/>
            <a:ext cx="35623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49E097-285E-4FC9-A2AB-814D3164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8288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Azalea funding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E1ACC4-A3C6-434D-9B09-78A0203F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247900"/>
            <a:ext cx="310515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$250,000 committed equity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Approximately $20,000 spent; approximately $230,000 available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No bank debt assumed for launch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Cap table: Geoff 36% | Jim 25% | employee group 39%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B20039-997B-4B2A-BEB0-AD5DAAEC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0"/>
            <a:ext cx="35623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D1D835-6B8D-45EB-970F-2FF90B39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288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Strategic option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D5D909-DE4D-4C2F-828E-34FB56FA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47900"/>
            <a:ext cx="310515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A 12-month bridge with a mutual extension option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A working relationship that may continue after Azalea’s standalone platform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No automatic long-term equity or permanent dependency</a:t>
            </a:r>
          </a:p>
        </p:txBody>
      </p:sp>
    </p:spTree>
    <p:extLst>
      <p:ext uri="{BB962C8B-B14F-4D97-AF65-F5344CB8AC3E}">
        <p14:creationId xmlns:p14="http://schemas.microsoft.com/office/powerpoint/2010/main" val="195293461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04C5BD-2FDC-4940-9EEC-7A107950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DA8948-5C94-4879-A001-A07CE9B7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entities are distinct; Profound remains the provider of record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1A8D73-9AC0-4A9C-8FA1-3A19B70F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05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2724150" y="2667000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cxnSp>
        <p:nvCxnSpPr>
          <p:cNvPr id="41" name=""/>
          <p:cNvCxnSpPr/>
          <p:nvPr/>
        </p:nvCxnSpPr>
        <p:spPr>
          <a:xfrm xmlns:a="http://schemas.openxmlformats.org/drawingml/2006/main">
            <a:off x="6324600" y="2667000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cxnSp>
        <p:nvCxnSpPr>
          <p:cNvPr id="42" name=""/>
          <p:cNvCxnSpPr/>
          <p:nvPr/>
        </p:nvCxnSpPr>
        <p:spPr>
          <a:xfrm xmlns:a="http://schemas.openxmlformats.org/drawingml/2006/main">
            <a:off x="9734550" y="26670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C63CBE-E05C-421A-A79D-E68A944B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23241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11FE9C-DCA2-4640-88C9-DA4E3CA2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2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Tyler Hospice Hold, LLC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FD055C-1988-4844-BB0F-09400BC0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28900"/>
            <a:ext cx="1866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62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100% owner of future Tyler operating company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Funds Tyler 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975202-1C13-43BA-BF89-4DBB428A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52625"/>
            <a:ext cx="24765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A9365F-C7A2-4F39-8F27-C62D9BC5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1907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6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Tyler operating company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9C8960-DAB0-4318-AE76-DA24B2E4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628900"/>
            <a:ext cx="2019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27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Identified; diligence underway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Intended DBA: Azalea Hospice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44E8A0-EDEC-4F1B-B07E-423635BF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952625"/>
            <a:ext cx="22860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A49BAF-B46C-4278-B8D0-D8C657E0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9075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Profound Hospice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390CCB-7DE8-4309-B265-4F244B98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2890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15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Licensed provider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Final clinical and compliance authority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7C6322-17F9-4669-AFC3-4AF7483C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952625"/>
            <a:ext cx="1200150" cy="14478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66AC1B-0006-49AC-AB70-865122CB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26695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Payers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C34A6D-863F-415D-80DD-209830D4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743200"/>
            <a:ext cx="933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Claims and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receipts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2D038C-2DA1-4F50-989A-844FFAA0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1139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Profound must remain the actual provider—not a billing conduit.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12673B-EB3D-405F-A157-34973236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05350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Tyler Hospice Hold, LLC is intended to own 100% of the future Tyler operating company. That company has been identified and is in diligence; “Azalea Hospice” is the intended DBA. Profound remains the provider of record.</a:t>
            </a:r>
          </a:p>
        </p:txBody>
      </p:sp>
    </p:spTree>
    <p:extLst>
      <p:ext uri="{BB962C8B-B14F-4D97-AF65-F5344CB8AC3E}">
        <p14:creationId xmlns:p14="http://schemas.microsoft.com/office/powerpoint/2010/main" val="32750838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389301-30E4-4A48-A844-596BB5E9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AAC24-907A-45E7-9858-48EEBB93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economics are fixed, transparent and independent of referrals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3C201B-3F7A-4319-9F85-A981164E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EBDACA-B8D2-40DD-AD97-77059C59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35623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1D522A-2550-47A7-8EAA-7D0B9B6C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Monthly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B7961B-C918-4A59-ADD5-E54D1F8A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43150"/>
            <a:ext cx="3105150" cy="289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$7,500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Target: September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Payment requires an expressly binding implementation provision or a short implementation letter after the framework is signed.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EFA617-E10A-4D11-9DA5-C7F257EA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714500"/>
            <a:ext cx="35623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0A8052-B8D9-4B4F-8351-E12D1DF3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92405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Direct costs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97789F-0266-4CB1-AB08-E8440BE0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343150"/>
            <a:ext cx="3105150" cy="289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Approved Tyler costs at actual cost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No markup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Documented and reconciled monthly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No Profound capital obligation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A21E67-E536-47F9-AE0C-0A1CD490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14500"/>
            <a:ext cx="35623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708A29-C821-4E3F-A6FD-FF245CC5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2405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Patrick’s election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3F61AB-3C83-4137-B716-E4F1D278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43150"/>
            <a:ext cx="3105150" cy="289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Patrick elects before definitive documents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/>
            </a:r>
          </a:p>
          <a:p xmlns:a="http://schemas.openxmlformats.org/drawingml/2006/main">
            <a:r>
              <a:t>Option A | $25,000 transition cash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Option B | $50,000 convertible note; terms developed with counsel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No exclusivity</a:t>
            </a:r>
          </a:p>
        </p:txBody>
      </p:sp>
    </p:spTree>
    <p:extLst>
      <p:ext uri="{BB962C8B-B14F-4D97-AF65-F5344CB8AC3E}">
        <p14:creationId xmlns:p14="http://schemas.microsoft.com/office/powerpoint/2010/main" val="139054244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D27951-060D-44F4-B494-18A576F0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C5C930-DDB3-4BFA-8FF1-1A20EBC6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Profound’s protections are embedded in the operating model</a:t>
            </a:r>
          </a:p>
        </p:txBody>
      </p:sp>
      <p:cxnSp>
        <p:nvCxnSpPr>
          <p:cNvPr id="75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A817E1-5128-4905-A74F-2286D94E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0DEDDD-F97A-4F4F-B974-9C826DC2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811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FDCFB6-2DA9-43FB-B345-B5CC673A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581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Authority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486195-70FB-41FD-9AB2-F41FD444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811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Final admissions, clinical, policy, QAPI, billing and stop-admission control</a:t>
            </a:r>
          </a:p>
        </p:txBody>
      </p:sp>
      <p:cxnSp>
        <p:nvCxnSpPr>
          <p:cNvPr id="80" name=""/>
          <p:cNvCxnSpPr/>
          <p:nvPr/>
        </p:nvCxnSpPr>
        <p:spPr>
          <a:xfrm xmlns:a="http://schemas.openxmlformats.org/drawingml/2006/main">
            <a:off x="400050" y="22098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8E71DE-B76F-4122-A91B-D00CF2D3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193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D15BC1-1B96-411E-BD2E-0D079661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193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Cash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031492-2FC3-4208-9625-96EEB79C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193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Profound-controlled bank account and payer receipts</a:t>
            </a:r>
          </a:p>
        </p:txBody>
      </p:sp>
      <p:cxnSp>
        <p:nvCxnSpPr>
          <p:cNvPr id="84" name=""/>
          <p:cNvCxnSpPr/>
          <p:nvPr/>
        </p:nvCxnSpPr>
        <p:spPr>
          <a:xfrm xmlns:a="http://schemas.openxmlformats.org/drawingml/2006/main">
            <a:off x="400050" y="30480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D51B42-6664-433B-A0A9-F5E3D1B6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575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DD7948-B784-4DF3-92BC-C3BFD2B6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57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Visibility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4E7EFB-DF78-4E39-A06A-253FEB90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575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Tyler claims, ERA, AR, payroll and vendor reporting</a:t>
            </a:r>
          </a:p>
        </p:txBody>
      </p:sp>
      <p:cxnSp>
        <p:nvCxnSpPr>
          <p:cNvPr id="88" name=""/>
          <p:cNvCxnSpPr/>
          <p:nvPr/>
        </p:nvCxnSpPr>
        <p:spPr>
          <a:xfrm xmlns:a="http://schemas.openxmlformats.org/drawingml/2006/main">
            <a:off x="400050" y="38862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020BF8-4FAC-4A5C-9524-EACDE567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957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D9AF9F-3EDD-4BEB-843B-0AF46993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95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Funding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DDC39E-D69E-4397-9378-3AE469E1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957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Azalea-prefunded payroll, operating costs and required reserves</a:t>
            </a:r>
          </a:p>
        </p:txBody>
      </p:sp>
      <p:cxnSp>
        <p:nvCxnSpPr>
          <p:cNvPr id="92" name=""/>
          <p:cNvCxnSpPr/>
          <p:nvPr/>
        </p:nvCxnSpPr>
        <p:spPr>
          <a:xfrm xmlns:a="http://schemas.openxmlformats.org/drawingml/2006/main">
            <a:off x="400050" y="47244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E2BFEA-2638-4CD9-84A5-5729C102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339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9B5B17-31A0-4CF7-8B8F-7394841F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33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Recourse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128EE3-D8F6-4359-9C1D-1E4A57B6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33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Insurance, indemnity, beneficiary choice, claims runout and wind-down obligations</a:t>
            </a:r>
          </a:p>
        </p:txBody>
      </p:sp>
      <p:cxnSp>
        <p:nvCxnSpPr>
          <p:cNvPr id="96" name=""/>
          <p:cNvCxnSpPr/>
          <p:nvPr/>
        </p:nvCxnSpPr>
        <p:spPr>
          <a:xfrm xmlns:a="http://schemas.openxmlformats.org/drawingml/2006/main">
            <a:off x="400050" y="55626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07996800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AC32F3-5ECF-4896-8F4E-CE8A82DB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9BCB88-CEA1-4F80-A9C1-95E0A0FB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teams integrate around clear decision rights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95B289-DEBE-4485-9321-5F41D725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B433D6-804B-4B8B-91AC-5511B116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5381625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E3A34C-6858-442B-8075-5DE28E15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4924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Tyler / Azalea leads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CE4C5F-31DB-48EC-AA5E-0CA74A1C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4924425" cy="303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Local execution and census development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Recruiting and staffing recommendations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Scheduling and performance management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Marketing and referral-development activity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Tyler budget and operating reporting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Technology and vendor recommendations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49D5AF-45FD-40A6-B4AE-918E5D8C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19250"/>
            <a:ext cx="57721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871BDE-73E3-41EE-AEB6-A78DC943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28800"/>
            <a:ext cx="531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Profound retains final authority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ED2FD5-12E4-49A4-A37A-E2168748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47900"/>
            <a:ext cx="5314950" cy="303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Patient acceptance and discharge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Eligibility, certification and plan of care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Clinical policies and QAPI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Provider enrollment, claims and refunds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Final clinical employment decisions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Stop-admission and compliance intervention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83F07A-600C-47CC-802F-9896DA19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F6368"/>
                </a:solidFill>
              </a:defRPr>
            </a:pPr>
            <a:r>
              <a:rPr sz="1275" b="1">
                <a:solidFill>
                  <a:srgbClr val="5F6368"/>
                </a:solidFill>
              </a:rPr>
              <a:t>Integration 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ECD76E-3C93-40F9-9A71-C3174148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724525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94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Introduce both teams, explain the shared model, and publish one escalation path before the first admission.</a:t>
            </a:r>
          </a:p>
        </p:txBody>
      </p:sp>
    </p:spTree>
    <p:extLst>
      <p:ext uri="{BB962C8B-B14F-4D97-AF65-F5344CB8AC3E}">
        <p14:creationId xmlns:p14="http://schemas.microsoft.com/office/powerpoint/2010/main" val="91965216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CBFFD1-8D6C-45C3-AE9B-35F81519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32258E-7752-48A6-A8BE-14320264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Vendor choices should reduce risk—not create friction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AB4E7E-FDE7-4331-8DA8-DBC379BB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185474-2065-476E-A9A8-A343AC16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35623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89A8D3-E37F-41D0-ABF4-358A00F6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FireNote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ECAB88-ABAA-4675-A484-78E86672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3105150" cy="308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Azalea’s proposed Tyler EMR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Rationale: documentation consistency, clinician productivity and compliance visibility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Decision requires Profound control, administrator access, record export, claims workflow and security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A07C13-299D-45E6-B3D3-0D9DC59E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638300"/>
            <a:ext cx="35623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E730B8-6174-4D75-8E85-B3148478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84785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Hospice Tools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9AE8A8-4891-4E03-8897-E2BF7F83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266950"/>
            <a:ext cx="3105150" cy="308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Profound’s current EMR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Known operating environment for Profound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Published pricing starts at $85 per user/month; billing and clearinghouse services may be separate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Evaluate integration and total workflow cost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18487F-D94B-418E-9E18-F16AACAB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38300"/>
            <a:ext cx="35623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B2845C-B246-4CC5-970E-783A4F5F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4785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DME Express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C4B75B-E58E-46B1-B771-A031F8CF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66950"/>
            <a:ext cx="3105150" cy="308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Azalea’s current DME partner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Continuity reduces patient and caregiver disruption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Profound must approve a new agreement or valid assignment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Confirm formulary, service levels, integration, pricing and invoicing</a:t>
            </a:r>
          </a:p>
        </p:txBody>
      </p:sp>
    </p:spTree>
    <p:extLst>
      <p:ext uri="{BB962C8B-B14F-4D97-AF65-F5344CB8AC3E}">
        <p14:creationId xmlns:p14="http://schemas.microsoft.com/office/powerpoint/2010/main" val="3085387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BE7D71-D94A-4485-9A36-ABF9063A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4BEE24-D826-40C4-9407-4488415F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A clinical working session can decide the EMR based on evidence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0AEFBE-BC1B-4691-9486-FE56B793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D19BED-E7A5-44D3-A257-0720C1A0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Participants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DCCC5F-EB77-4D0E-BFDD-2890E4DD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Patrick  •  Patrick’s RN spouse  •  Profound clinical lead  •  Dana  •  Silas  •  FireNote implementation lead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D8121C-75E3-4426-BDE5-2A1B2B69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9D9C39-B9BE-4426-891D-7D76AE06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8BF50C-7DDF-4018-89B8-4B1474D6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57500"/>
            <a:ext cx="176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Demonstrate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EC2FC8-0F0E-4CDD-999D-54B1EFE4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57500"/>
            <a:ext cx="819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Admission, care plan, IDG, orders, HOPE, supervisory visits and ADR retrieval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E1EFC3-0FF6-488B-8EC8-7ABA0F75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045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2D85AA-EF03-406A-B238-CD693E1A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FD077A-0EDF-49E8-8F85-31C090B0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00450"/>
            <a:ext cx="176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Validate control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4C2F36-F10A-4790-ADE9-221DD94D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00450"/>
            <a:ext cx="819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Profound administrator access, audit logs, policy alignment, record retention and export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3F7F7B-EED5-466E-B721-5F99A66F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4340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19B233-C876-4F85-9504-8726D427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38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CCB056-8050-4B81-862C-6B6990A7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43400"/>
            <a:ext cx="176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Validate billing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22FBCB-E9EE-4C5F-B5D4-316A4C6E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343400"/>
            <a:ext cx="819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NPI/CCN configuration, NOE and claim workflow, clearinghouse, ERA and AR reporting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C92C51-992F-492E-AE26-5AFD76E6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8635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D4EA6A-DE83-4B28-9F7A-61C5DBB6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EB3A25-EC4A-4995-AA69-8158CC76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86350"/>
            <a:ext cx="176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Decide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23ED43-8464-4F67-B513-8892D5FE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086350"/>
            <a:ext cx="819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Approve FireNote, retain Hospice Tools, or define a controlled alternative</a:t>
            </a:r>
          </a:p>
        </p:txBody>
      </p:sp>
    </p:spTree>
    <p:extLst>
      <p:ext uri="{BB962C8B-B14F-4D97-AF65-F5344CB8AC3E}">
        <p14:creationId xmlns:p14="http://schemas.microsoft.com/office/powerpoint/2010/main" val="177373202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26C410-FC67-477A-8CA1-7AA32746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0D6704-320A-4963-8FAB-BC4E43A1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Core clinical staff should sit on Profound payroll; Azalea funds the cost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0D07EA-CF97-4F25-BD8C-2AD87E2C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288BA-F4DA-42B0-8E33-8FF99BA0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538162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F98DA5-310E-4FC0-AC37-EC142E1C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4924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Recommended base case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454520-BBEF-4DCE-99BA-B2AF4147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4924425" cy="308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Profound is W-2 employer for core clinical staff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Azalea prefunds wages, taxes and benefits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Tyler is a separate location and cost center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One authoritative payroll-tax filer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Gusto only if Profound’s payroll advisor validates the configuration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Azalea employs appropriate nonclinical staff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9C8425-D80F-4614-BA57-A910EC49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19250"/>
            <a:ext cx="57721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EDB89E-1D3C-4D6E-A1C3-68818125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28800"/>
            <a:ext cx="531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Why this is cleaner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50C4CB-A877-47B8-972F-A35CDFBB8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47900"/>
            <a:ext cx="5314950" cy="308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Aligns employment with the certified provider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Preserves Profound’s supervision and policy authority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Avoids routine contracting of core services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Prevents duplicate quarterly payroll filings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Produces location-level payroll reporting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Keeps Azalea economically responsible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A7CBE7-6742-4C80-B592-96B44BB0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97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Decision needed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71A072-5607-441D-AB6E-2F239B9C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781675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94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Authorize payroll and healthcare counsel to validate the employer, funding and filing mechanics immediately.</a:t>
            </a:r>
          </a:p>
        </p:txBody>
      </p:sp>
    </p:spTree>
    <p:extLst>
      <p:ext uri="{BB962C8B-B14F-4D97-AF65-F5344CB8AC3E}">
        <p14:creationId xmlns:p14="http://schemas.microsoft.com/office/powerpoint/2010/main" val="74131060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8A6B5C-184D-4C50-B72E-C359408A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B03B0-10CF-49B6-B194-CD722B32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One bank account and one Tyler subledger keep cash controls clean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A07EE6-3B92-4C5F-BF56-D0EA5DDF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12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2533650" y="2781300"/>
            <a:ext cx="990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cxnSp>
        <p:nvCxnSpPr>
          <p:cNvPr id="43" name=""/>
          <p:cNvCxnSpPr/>
          <p:nvPr/>
        </p:nvCxnSpPr>
        <p:spPr>
          <a:xfrm xmlns:a="http://schemas.openxmlformats.org/drawingml/2006/main">
            <a:off x="5981700" y="2781300"/>
            <a:ext cx="990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cxnSp>
        <p:nvCxnSpPr>
          <p:cNvPr id="44" name=""/>
          <p:cNvCxnSpPr/>
          <p:nvPr/>
        </p:nvCxnSpPr>
        <p:spPr>
          <a:xfrm xmlns:a="http://schemas.openxmlformats.org/drawingml/2006/main">
            <a:off x="9429750" y="2781300"/>
            <a:ext cx="990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1591B2-7B85-42A7-9227-2BFFF1BF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1336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0408B6-F111-489B-8F52-16FFE2D1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050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Payers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B77CFD-5DFA-4DEE-BDF9-CC23F0E2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16764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Deposit into Profound-controlled account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C81F54-89CC-48A1-AF02-FF08952B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95500"/>
            <a:ext cx="24574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4860E5-675D-46BB-A3CF-3F6D599A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050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Tyler subledger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441EF9-1156-430A-86C3-99A92EF5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24150"/>
            <a:ext cx="2000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Patient, claim, ERA, AR and cash attribution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4F0D7A-2767-46B2-B0D6-262EEEE8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95500"/>
            <a:ext cx="24574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24D600-6D38-4BB7-9B97-3FF0F021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050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Payment waterfall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B00A2F-0F5F-4653-A627-63278C55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24150"/>
            <a:ext cx="2000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Care + payroll → reserves → direct costs → fee → advances → true-up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E4B787-EC96-49BD-9973-C09EC09F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095500"/>
            <a:ext cx="13716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9B6014-B670-4360-8FF8-980AFC78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305050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Report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F99FA4-E1C7-4DD1-AD31-2FA087F1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724150"/>
            <a:ext cx="9144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64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Close within 10 business days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A20225-5FA1-48D2-92EF-AEE141ED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Minimum monthly reporting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180DC0-A15B-43E1-8002-612ABBCB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91050"/>
            <a:ext cx="6096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Claims submitted, paid, denied and pending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ERA and cash receipts by patient and service month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Payroll, pharmacy, DME and other direct costs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Fee, reserve activity and working-capital balance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Reconciliation, exceptions and agreed true-up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242D9B-C444-4CD7-9C25-E2096B71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95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F6368"/>
                </a:solidFill>
              </a:defRPr>
            </a:pPr>
            <a:r>
              <a:rPr sz="1500" b="1">
                <a:solidFill>
                  <a:srgbClr val="5F6368"/>
                </a:solidFill>
              </a:rPr>
              <a:t>Control principle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7B41B2-4D3B-4D4A-A6D8-B05116A6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572000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Profound controls payer cash. Azalea receives complete visibility and contractual reconciliation rights.</a:t>
            </a:r>
          </a:p>
        </p:txBody>
      </p:sp>
    </p:spTree>
    <p:extLst>
      <p:ext uri="{BB962C8B-B14F-4D97-AF65-F5344CB8AC3E}">
        <p14:creationId xmlns:p14="http://schemas.microsoft.com/office/powerpoint/2010/main" val="87427683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836C98-B0E1-4FA2-97DA-B8612001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DD079C-FB2E-4285-B930-462DC8DB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Billing readiness is a regulatory project—not a credential handoff</a:t>
            </a:r>
          </a:p>
        </p:txBody>
      </p:sp>
      <p:cxnSp>
        <p:nvCxnSpPr>
          <p:cNvPr id="51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432FEC-8372-4E6B-8A04-C26E5879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568B00-A7AE-451E-97E9-2FD2CCE7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Proposed Tyler ADS location: 13387 North Highway 69, Tyler, Texas</a:t>
            </a:r>
          </a:p>
        </p:txBody>
      </p:sp>
      <p:cxnSp>
        <p:nvCxnSpPr>
          <p:cNvPr id="54" name=""/>
          <p:cNvCxnSpPr/>
          <p:nvPr/>
        </p:nvCxnSpPr>
        <p:spPr>
          <a:xfrm xmlns:a="http://schemas.openxmlformats.org/drawingml/2006/main">
            <a:off x="2209800" y="308610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55" name=""/>
          <p:cNvCxnSpPr/>
          <p:nvPr/>
        </p:nvCxnSpPr>
        <p:spPr>
          <a:xfrm xmlns:a="http://schemas.openxmlformats.org/drawingml/2006/main">
            <a:off x="4514850" y="308610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56" name=""/>
          <p:cNvCxnSpPr/>
          <p:nvPr/>
        </p:nvCxnSpPr>
        <p:spPr>
          <a:xfrm xmlns:a="http://schemas.openxmlformats.org/drawingml/2006/main">
            <a:off x="6819900" y="308610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57" name=""/>
          <p:cNvCxnSpPr/>
          <p:nvPr/>
        </p:nvCxnSpPr>
        <p:spPr>
          <a:xfrm xmlns:a="http://schemas.openxmlformats.org/drawingml/2006/main">
            <a:off x="9124950" y="308610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471EFB-23D5-4BD0-B29C-D2271A5E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1809750" cy="22860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75B902-033E-4923-9A8C-196920B0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02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0A4424-4C84-499D-BBF4-F1A691B0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28900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331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Confirm eligibility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9F6D1C-F57E-4CB8-8E7D-E447BBAE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57550"/>
            <a:ext cx="1466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Service area, location, license status, accreditation and MAC pathway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32887E-34B6-4038-8547-96FFB35B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038350"/>
            <a:ext cx="1809750" cy="22860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B935A8-29BB-490D-A447-53C3F63E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002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17D79F-09E7-4E08-9D33-1247A527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28900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Texas TULIP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BBE4E2-8D81-4E9D-AB13-1376D27C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57550"/>
            <a:ext cx="1466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9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Secure HHSC ADS approval, parent-license link and service-area confirmation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5D2F29-4B8A-450A-877B-F4CFDCF0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38350"/>
            <a:ext cx="1809750" cy="22860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A17381-3446-4E83-A19E-747686326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2002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AB7400-2785-4F7E-A30E-E2CB3364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628900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PECOS / 855A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B70721-B549-4C56-B701-354A0055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257550"/>
            <a:ext cx="1466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Add Tyler location; obtain MAC/CMS approval and the effective date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9ED26A-651B-464D-AA5B-4FDA6CC0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38350"/>
            <a:ext cx="1809750" cy="22860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A6A872-D551-48FF-9564-C036F0C5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002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2A09B2-025D-425C-8A34-5E913DCA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28900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00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Approval + build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C9A473-556C-4A1C-9BCF-1903FB1D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257550"/>
            <a:ext cx="1466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Close survey/AO, payer, staffing, EMR, claims, payroll, vendor and testing gates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0AD9ED-2DC8-4615-9A88-D19BBF8B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38350"/>
            <a:ext cx="1809750" cy="22860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F33D00-9D46-4B4B-A118-51683FFA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2002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4C1750-1095-434C-94EA-5C7AAA40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28900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First admission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0F806E-4444-4A0F-BEFE-66D98AFA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57550"/>
            <a:ext cx="1466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Only after approvals are effective and Profound signs the readiness certificate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A88784-C2A1-4301-8910-DF6334D5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9650"/>
            <a:ext cx="1139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August 31 is an aggressive target. Submission is not approval; the ADS launches only after every required effective date and written go/no-go condition is satisfied.</a:t>
            </a:r>
          </a:p>
        </p:txBody>
      </p:sp>
    </p:spTree>
    <p:extLst>
      <p:ext uri="{BB962C8B-B14F-4D97-AF65-F5344CB8AC3E}">
        <p14:creationId xmlns:p14="http://schemas.microsoft.com/office/powerpoint/2010/main" val="116584543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B4BF795-84B7-4040-AE86-B1799A47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4A1AB8-F58D-4409-9FE4-A02539C0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18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RACI keeps Profound accountable without making Patrick do everything</a:t>
            </a:r>
          </a:p>
        </p:txBody>
      </p:sp>
      <p:cxnSp>
        <p:nvCxnSpPr>
          <p:cNvPr id="70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AD344C-C389-435A-B0E4-F4B88A76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31BC63-8CE6-4411-8FB4-18686B84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9542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Workstream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96A000-C482-42DA-8FB7-9652C074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495425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Patrick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C913E4-9939-4969-A92C-BD2BBCD4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495425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Profound role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A78709-7C69-4C42-A34A-D4D2C792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95425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Geoff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F75AEA-4576-4A10-BE94-60B5CF4B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495425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Silas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F20D44-6E8A-4AE9-9E01-C4AB9C768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495425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Advisor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8B7E56-68D1-4020-BE79-C60B614F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14525"/>
            <a:ext cx="1139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EA746C-8E6F-4670-A2EB-4B21C804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193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Commercial framework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BACD7D-6A28-4BCB-A8B8-F59C4925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193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38EA1A-32BA-42B6-925E-1F1EC777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193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4AA1D1-C612-4E7D-AF2F-0EF23B05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193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A01AD1-38A8-44E8-8AFD-B4333E2F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193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E084FC-3BBE-4EBF-BF09-FEC78FC9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0193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18CA3C-6611-4BAB-B2DF-E73C58EC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66975"/>
            <a:ext cx="1139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8C2A60-E87A-4ACD-B022-63F68A11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TULIP / PECOS / CMS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3B8DB2-CD12-4796-9B67-ADB3E4FE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717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5AE0C2-7D03-47EF-949C-1D2A8CAA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717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EC27EE-19F1-4939-B7F2-A63DF66B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717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87B74A-D5B8-4F6C-B84C-E2F9154A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717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E45C48-C108-482E-B1C5-2329D819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5717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A256D9-85EC-41CE-891F-0C61D34A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19425"/>
            <a:ext cx="1139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AE63F0-FF84-49C1-8E4D-659FBE2F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242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Clinical policy + QAPI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649434-C21C-443C-AD63-03DC9EDE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242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43A179-68B6-4D8D-B355-02BD1DE4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242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72A45B-EC4C-4D7B-9960-4A959B68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242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F8EFE4-5189-4E01-95D2-11D354F6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242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CF4FBB-67DC-4131-9BFA-0AA5C10A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1242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890359-8DD3-46F6-9E47-45B41D11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71875"/>
            <a:ext cx="1139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918FDB-CA4A-4F04-8F5B-F960654A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766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Staffing + payroll build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831F01-2273-4390-B3EC-3C79E88E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766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DB54A3-85B5-4159-841E-11C2D315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766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D94B2B-0EF4-4876-B1E4-483C1620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766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CEAC58-0BB5-4B86-BBC7-F4C5D5BB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6766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ECA901-EBF4-4451-902F-AE6B18DA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6766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7809386-99F9-4D50-9EF7-FE253691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24325"/>
            <a:ext cx="1139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542B809-999C-4276-8893-BDAF6E40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291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EMR + billing readiness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8A4E85C-A7D9-4DCD-B727-FCBF6958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2291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2BD0DEE-1E61-4350-AADF-073B02A3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2291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18483EC-B1E2-4B7D-857F-D4B61B0B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291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7C72D06-D023-4FF3-A499-BDECB1C8A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291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B648596-47B9-4791-8B48-DE7C804E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2291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460F389-A93E-4A0C-8EB1-456587A4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76775"/>
            <a:ext cx="1139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5E275AD-6339-4DDE-859F-FDAAE313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815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Finance + reconciliation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E518532-5A04-4413-A616-B8ECD01A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7815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AF02706-27DF-42D1-BD2D-9D985BB1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7815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B692C1B-7FA7-4188-80A8-F004F211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815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CC12024-91DA-408A-9502-6A188236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7815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223EFEF-CD66-4335-855F-45FF32E5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7815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74E9456-B787-423A-B78F-50927B3D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29225"/>
            <a:ext cx="1139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1130991-3C0F-4CD5-937B-5718FE67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340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First-admission readiness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2D75298-ACD7-49C4-A49A-39C4E5B7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3340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B287840-61BD-49BD-A07C-2F647F05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3340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BBB23D6-EBC2-4DCE-86C3-1113F67F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340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3E0E2FB-D361-4C14-9F47-D7ABC316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3340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F0DD1F6-3208-4CF1-82D8-19AB04D1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3340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A4D9EAB-9809-4C8F-9EBF-F17D99FA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A = accountable  |  R = responsible  |  C = consulted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910C06D-8C7F-40BB-9CBF-1B252619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91502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Names replace placeholders after Patrick maps his team.</a:t>
            </a:r>
          </a:p>
        </p:txBody>
      </p:sp>
    </p:spTree>
    <p:extLst>
      <p:ext uri="{BB962C8B-B14F-4D97-AF65-F5344CB8AC3E}">
        <p14:creationId xmlns:p14="http://schemas.microsoft.com/office/powerpoint/2010/main" val="145111534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970E2E-8FD3-4536-9894-45D1C59D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92A7E5-8D16-4BDB-B34A-278846DC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09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document package separates today’s framework from binding obligations</a:t>
            </a:r>
          </a:p>
        </p:txBody>
      </p:sp>
      <p:cxnSp>
        <p:nvCxnSpPr>
          <p:cNvPr id="64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3E3804-45B0-44EF-9DBD-2FCF2499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90C89B-C395-45DB-82C2-FD7620DB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811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38CD3B-A93A-46F9-8F0B-6D8B3F71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5811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154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Term sheet + implementation letter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F5A2E4-9491-4A8B-809E-D08EE286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47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Non-binding business framework; any payment or implementation obligation expressly binding or placed in a short letter</a:t>
            </a:r>
          </a:p>
        </p:txBody>
      </p:sp>
      <p:cxnSp>
        <p:nvCxnSpPr>
          <p:cNvPr id="69" name=""/>
          <p:cNvCxnSpPr/>
          <p:nvPr/>
        </p:nvCxnSpPr>
        <p:spPr>
          <a:xfrm xmlns:a="http://schemas.openxmlformats.org/drawingml/2006/main">
            <a:off x="400050" y="23241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E8E6F8-1E82-40B0-8EAB-2B3EED42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098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B43627-C8A3-402B-84B7-CAB91888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098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Counsel memorandum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E3DE49-002C-464C-A3DF-6318AEE1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09850"/>
            <a:ext cx="647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Structure, guardrails, open legal questions and definitive-document architecture</a:t>
            </a:r>
          </a:p>
        </p:txBody>
      </p:sp>
      <p:cxnSp>
        <p:nvCxnSpPr>
          <p:cNvPr id="73" name=""/>
          <p:cNvCxnSpPr/>
          <p:nvPr/>
        </p:nvCxnSpPr>
        <p:spPr>
          <a:xfrm xmlns:a="http://schemas.openxmlformats.org/drawingml/2006/main">
            <a:off x="400050" y="33528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4F91D4-E348-468D-B923-AE271A07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385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4D440C-246B-4707-A6CB-DBD8A9C2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385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Financial-advisor memorandum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577C87-CE0C-4D45-8D3D-4BAF1180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38550"/>
            <a:ext cx="647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Funding, cash controls, payroll, reporting, reserves and open assumptions</a:t>
            </a:r>
          </a:p>
        </p:txBody>
      </p:sp>
      <p:cxnSp>
        <p:nvCxnSpPr>
          <p:cNvPr id="77" name=""/>
          <p:cNvCxnSpPr/>
          <p:nvPr/>
        </p:nvCxnSpPr>
        <p:spPr>
          <a:xfrm xmlns:a="http://schemas.openxmlformats.org/drawingml/2006/main">
            <a:off x="400050" y="43815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4D1C58-317B-483C-BF87-6BC12836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6672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3E3BA1-4691-45B3-BC5E-02CE5893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672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Definitive agreement suite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138489-1B4C-46CA-9EA0-7140FE80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67250"/>
            <a:ext cx="647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Management, funding, reimbursement, employment, data, vendors, indemnity and transition</a:t>
            </a:r>
          </a:p>
        </p:txBody>
      </p:sp>
      <p:cxnSp>
        <p:nvCxnSpPr>
          <p:cNvPr id="81" name=""/>
          <p:cNvCxnSpPr/>
          <p:nvPr/>
        </p:nvCxnSpPr>
        <p:spPr>
          <a:xfrm xmlns:a="http://schemas.openxmlformats.org/drawingml/2006/main">
            <a:off x="400050" y="54102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D1D88B-47F8-4C66-A421-2165B636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912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Patrick and Geoff align on the working drafts before distribution. Advisors redline within agreed response windows and preserve the agreed commercial intent.</a:t>
            </a:r>
          </a:p>
        </p:txBody>
      </p:sp>
    </p:spTree>
    <p:extLst>
      <p:ext uri="{BB962C8B-B14F-4D97-AF65-F5344CB8AC3E}">
        <p14:creationId xmlns:p14="http://schemas.microsoft.com/office/powerpoint/2010/main" val="99691272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F13D41-384B-44FC-8702-8035DA42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A8543B-5A86-4489-9F06-ED9A1506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Leave Monday with a signed framework, six decisions and named owners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4AC5DF-14F0-4BC9-AAAB-61DC588A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FA1096-8B0C-4BBE-9E97-52B45C6F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668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5473A9-2C37-41EE-9801-DC5B6ACE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525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D55B2B-B6AA-4B0A-B34D-F675AC04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859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Confirm the $7,500 fee, direct-cost rules, 12-month term and mutual extension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EF3212-3F84-4774-9B7D-D8CEB077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907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460FA5-227F-456A-8F66-E4884C8E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764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836AF5-6D66-4DEA-8AD8-FB243D63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098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Set Patrick’s transition election—or a firm date to choose cash versus the note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308995-0829-40DF-9AB3-83A9EE8D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146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9AB069-6380-468A-9964-F091C9E3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003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6624F6-8E84-47D0-B898-1CF7CE10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337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Agree on the binding instrument for the September 1 implementation payment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CE4DD6-19ED-4E83-B715-DBD2F8D7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385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3D84E2-8D3B-4E6D-B9CE-37AD2E6E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242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C8B8B2-687D-45B2-82FA-3A37EF3B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576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Approve payroll, cash, EMR and DME recommendations for advisor validation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84DBB5-8763-4161-AABE-8A57F517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624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E1470E-21E8-4315-8B00-18214FAE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481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B7ACE9-510D-498D-9C91-8454E669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815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Name regulatory filing owners and Profound’s final go/no-go signer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4EE7F2-190E-4432-8698-8DB3539F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863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9EC144-6E31-4C4B-8EC8-D360ADAE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720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CFDF18-BED8-42C4-BF06-B8AB1CFE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Finalize and sign the non-binding framework before the meeting adjourns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16EE8A-0B1F-4398-84E1-775A3466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531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Target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A25C3E-92EE-4205-941B-370E8FDA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15025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5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Walk out with a signed framework, decision log, owners and dates; launch only after written approval and readiness evidence.</a:t>
            </a:r>
          </a:p>
        </p:txBody>
      </p:sp>
    </p:spTree>
    <p:extLst>
      <p:ext uri="{BB962C8B-B14F-4D97-AF65-F5344CB8AC3E}">
        <p14:creationId xmlns:p14="http://schemas.microsoft.com/office/powerpoint/2010/main" val="133908872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F13D41-384B-44FC-8702-8035DA42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A8543B-5A86-4489-9F06-ED9A1506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Record the agreement before the meeting ends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4AC5DF-14F0-4BC9-AAAB-61DC588A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FA1096-8B0C-4BBE-9E97-52B45C6F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668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5473A9-2C37-41EE-9801-DC5B6ACE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525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D55B2B-B6AA-4B0A-B34D-F675AC04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859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Commercial terms  |  Agreed / Open: ______________________________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EF3212-3F84-4774-9B7D-D8CEB077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907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460FA5-227F-456A-8F66-E4884C8E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764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836AF5-6D66-4DEA-8AD8-FB243D63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098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Transition option  |  Cash / Note / Decision date: ________________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308995-0829-40DF-9AB3-83A9EE8D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146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9AB069-6380-468A-9964-F091C9E3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003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6624F6-8E84-47D0-B898-1CF7CE10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337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Payment instrument  |  Binding provision / Short letter: __________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CE4DD6-19ED-4E83-B715-DBD2F8D7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385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3D84E2-8D3B-4E6D-B9CE-37AD2E6E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242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C8B8B2-687D-45B2-82FA-3A37EF3B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576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Payroll + cash controls  |  Approved / Open: ______________________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84DBB5-8763-4161-AABE-8A57F517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624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E1470E-21E8-4315-8B00-18214FAE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481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B7ACE9-510D-498D-9C91-8454E669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815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EMR + DME path  |  Owner and due date: __________________________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4EE7F2-190E-4432-8698-8DB3539F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863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9EC144-6E31-4C4B-8EC8-D360ADAE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720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CFDF18-BED8-42C4-BF06-B8AB1CFE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Launch authority  |  Owner, evidence and go/no-go signer: __________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16EE8A-0B1F-4398-84E1-775A3466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531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Meeting close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A25C3E-92EE-4205-941B-370E8FDA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15025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Non-binding framework signed today; every open item recorded with one owner and one deadline.</a:t>
            </a:r>
          </a:p>
        </p:txBody>
      </p:sp>
    </p:spTree>
    <p:extLst>
      <p:ext uri="{BB962C8B-B14F-4D97-AF65-F5344CB8AC3E}">
        <p14:creationId xmlns:p14="http://schemas.microsoft.com/office/powerpoint/2010/main" val="133908872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F13D41-384B-44FC-8702-8035DA42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A8543B-5A86-4489-9F06-ED9A1506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Convert the signed framework into work during the first 10 business days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4AC5DF-14F0-4BC9-AAAB-61DC588A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FA1096-8B0C-4BBE-9E97-52B45C6F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668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5473A9-2C37-41EE-9801-DC5B6ACE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525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D55B2B-B6AA-4B0A-B34D-F675AC04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859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Patrick sends aligned memoranda to counsel and financial advisor  |  Owner/date: __________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EF3212-3F84-4774-9B7D-D8CEB077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907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460FA5-227F-456A-8F66-E4884C8E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764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836AF5-6D66-4DEA-8AD8-FB243D63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098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Counsel confirms structure, payment instrument and enrollment path  |  Due: __________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308995-0829-40DF-9AB3-83A9EE8D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146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9AB069-6380-468A-9964-F091C9E3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003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6624F6-8E84-47D0-B898-1CF7CE10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337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Financial advisor confirms prefunding, reserves, payroll, reconciliation and FMV  |  Due: __________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CE4DD6-19ED-4E83-B715-DBD2F8D7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385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3D84E2-8D3B-4E6D-B9CE-37AD2E6E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242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C8B8B2-687D-45B2-82FA-3A37EF3B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576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Profound opens TULIP, PECOS/MAC and accreditation workstreams  |  Owner/date: __________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84DBB5-8763-4161-AABE-8A57F517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624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E1470E-21E8-4315-8B00-18214FAE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481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B7ACE9-510D-498D-9C91-8454E669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815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Teams complete EMR, DME, billing, payroll, insurance and staffing diligence  |  Due: __________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4EE7F2-190E-4432-8698-8DB3539F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863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9EC144-6E31-4C4B-8EC8-D360ADAE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720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CFDF18-BED8-42C4-BF06-B8AB1CFE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Joint team maintains the evidence tracker and weekly go/no-go review  |  Owner: __________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16EE8A-0B1F-4398-84E1-775A3466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531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90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Launch discipline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A25C3E-92EE-4205-941B-370E8FDA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15025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No first admission until Profound signs the readiness certificate and every required approval is effective.</a:t>
            </a:r>
          </a:p>
        </p:txBody>
      </p:sp>
    </p:spTree>
    <p:extLst>
      <p:ext uri="{BB962C8B-B14F-4D97-AF65-F5344CB8AC3E}">
        <p14:creationId xmlns:p14="http://schemas.microsoft.com/office/powerpoint/2010/main" val="133908872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970E2E-8FD3-4536-9894-45D1C59D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92A7E5-8D16-4BDB-B34A-278846DC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Set response dates so advisor review does not stall implementation</a:t>
            </a:r>
          </a:p>
        </p:txBody>
      </p:sp>
      <p:cxnSp>
        <p:nvCxnSpPr>
          <p:cNvPr id="64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3E3804-45B0-44EF-9DBD-2FCF2499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90C89B-C395-45DB-82C2-FD7620DB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811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38CD3B-A93A-46F9-8F0B-6D8B3F71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5811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Counsel memorandum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F5A2E4-9491-4A8B-809E-D08EE286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47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Recipient: __________________  |  Send: __________  |  Redline due: __________</a:t>
            </a:r>
          </a:p>
        </p:txBody>
      </p:sp>
      <p:cxnSp>
        <p:nvCxnSpPr>
          <p:cNvPr id="69" name=""/>
          <p:cNvCxnSpPr/>
          <p:nvPr/>
        </p:nvCxnSpPr>
        <p:spPr>
          <a:xfrm xmlns:a="http://schemas.openxmlformats.org/drawingml/2006/main">
            <a:off x="400050" y="23241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E8E6F8-1E82-40B0-8EAB-2B3EED42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098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B43627-C8A3-402B-84B7-CAB91888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098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Financial-advisor memorandum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E3DE49-002C-464C-A3DF-6318AEE1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09850"/>
            <a:ext cx="647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Recipient: __________________  |  Send: __________  |  Response due: __________</a:t>
            </a:r>
          </a:p>
        </p:txBody>
      </p:sp>
      <p:cxnSp>
        <p:nvCxnSpPr>
          <p:cNvPr id="73" name=""/>
          <p:cNvCxnSpPr/>
          <p:nvPr/>
        </p:nvCxnSpPr>
        <p:spPr>
          <a:xfrm xmlns:a="http://schemas.openxmlformats.org/drawingml/2006/main">
            <a:off x="400050" y="33528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4F91D4-E348-468D-B923-AE271A07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385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4D440C-246B-4707-A6CB-DBD8A9C2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385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154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Term sheet + implementation letter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577C87-CE0C-4D45-8D3D-4BAF1180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38550"/>
            <a:ext cx="647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Owners: Geoff + Patrick  |  Counsel mark-up: __________  |  Signature: __________</a:t>
            </a:r>
          </a:p>
        </p:txBody>
      </p:sp>
      <p:cxnSp>
        <p:nvCxnSpPr>
          <p:cNvPr id="77" name=""/>
          <p:cNvCxnSpPr/>
          <p:nvPr/>
        </p:nvCxnSpPr>
        <p:spPr>
          <a:xfrm xmlns:a="http://schemas.openxmlformats.org/drawingml/2006/main">
            <a:off x="400050" y="43815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4D1C58-317B-483C-BF87-6BC12836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6672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3E3BA1-4691-45B3-BC5E-02CE5893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672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Definitive agreement suite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138489-1B4C-46CA-9EA0-7140FE80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67250"/>
            <a:ext cx="647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Counsel: __________  |  Draft: __________  |  Execution: __________</a:t>
            </a:r>
          </a:p>
        </p:txBody>
      </p:sp>
      <p:cxnSp>
        <p:nvCxnSpPr>
          <p:cNvPr id="81" name=""/>
          <p:cNvCxnSpPr/>
          <p:nvPr/>
        </p:nvCxnSpPr>
        <p:spPr>
          <a:xfrm xmlns:a="http://schemas.openxmlformats.org/drawingml/2006/main">
            <a:off x="400050" y="54102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D1D88B-47F8-4C66-A421-2165B636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912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Open legal or financial issues go into one decision log; they do not silently change the agreed commercial intent.</a:t>
            </a:r>
          </a:p>
        </p:txBody>
      </p:sp>
    </p:spTree>
    <p:extLst>
      <p:ext uri="{BB962C8B-B14F-4D97-AF65-F5344CB8AC3E}">
        <p14:creationId xmlns:p14="http://schemas.microsoft.com/office/powerpoint/2010/main" val="99691272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3212E8-C8E6-46A7-81E6-26D44180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1A83F6-8210-4F21-BCFF-AA192469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876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000000"/>
                </a:solidFill>
              </a:defRPr>
            </a:pPr>
            <a:r>
              <a:rPr sz="5100" b="1">
                <a:solidFill>
                  <a:srgbClr val="000000"/>
                </a:solidFill>
              </a:rPr>
              <a:t>Working materials</a:t>
            </a:r>
          </a:p>
          <a:p xmlns:a="http://schemas.openxmlformats.org/drawingml/2006/main">
            <a:pPr algn="l">
              <a:buNone/>
              <a:defRPr sz="5100" b="1">
                <a:solidFill>
                  <a:srgbClr val="000000"/>
                </a:solidFill>
              </a:defRPr>
            </a:pPr>
            <a:r>
              <a:rPr sz="5100" b="1">
                <a:solidFill>
                  <a:srgbClr val="000000"/>
                </a:solidFill>
              </a:rPr>
              <a:t>for 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A1A8DB-13F7-461E-8DD7-6EC7EA58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Detailed launch checklist  •  Expanded RACI  •  Vendor diligence  •  Calendar</a:t>
            </a:r>
          </a:p>
        </p:txBody>
      </p:sp>
    </p:spTree>
    <p:extLst>
      <p:ext uri="{BB962C8B-B14F-4D97-AF65-F5344CB8AC3E}">
        <p14:creationId xmlns:p14="http://schemas.microsoft.com/office/powerpoint/2010/main" val="164372616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C36205-8A87-425A-8A47-1EB2A43D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WORKING 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A8DE09-1905-473A-877F-200C6A74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Appendix A — Regulatory and operating launch checklist</a:t>
            </a:r>
          </a:p>
        </p:txBody>
      </p:sp>
      <p:cxnSp>
        <p:nvCxnSpPr>
          <p:cNvPr id="87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AA850E-90BA-452C-8A22-450F4112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499C20-2EC7-4E26-912E-42419140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Provider facts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20DBAF-3839-4513-A2E6-F4DCC70E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46685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License, service area, CCN/NPI, MAC, accreditation, current enrollment data</a:t>
            </a:r>
          </a:p>
        </p:txBody>
      </p:sp>
      <p:cxnSp>
        <p:nvCxnSpPr>
          <p:cNvPr id="91" name=""/>
          <p:cNvCxnSpPr/>
          <p:nvPr/>
        </p:nvCxnSpPr>
        <p:spPr>
          <a:xfrm xmlns:a="http://schemas.openxmlformats.org/drawingml/2006/main">
            <a:off x="400050" y="2295525"/>
            <a:ext cx="5334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7DE88F-DB64-4E04-A5DF-2BDC5AA9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003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Texas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365B88-17C1-4B75-97AB-FEFF063A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600325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TULIP access, ADS application, location, leadership, policies and supporting documents</a:t>
            </a:r>
          </a:p>
        </p:txBody>
      </p:sp>
      <p:cxnSp>
        <p:nvCxnSpPr>
          <p:cNvPr id="94" name=""/>
          <p:cNvCxnSpPr/>
          <p:nvPr/>
        </p:nvCxnSpPr>
        <p:spPr>
          <a:xfrm xmlns:a="http://schemas.openxmlformats.org/drawingml/2006/main">
            <a:off x="400050" y="3429000"/>
            <a:ext cx="5334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D75934-906B-4DD7-8203-D3A1354C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338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Medicare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16C918-3BE5-489F-A933-35DB70B7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73380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PECOS/CMS-855A location addition, required disclosures, MAC/state/AO coordination</a:t>
            </a:r>
          </a:p>
        </p:txBody>
      </p:sp>
      <p:cxnSp>
        <p:nvCxnSpPr>
          <p:cNvPr id="97" name=""/>
          <p:cNvCxnSpPr/>
          <p:nvPr/>
        </p:nvCxnSpPr>
        <p:spPr>
          <a:xfrm xmlns:a="http://schemas.openxmlformats.org/drawingml/2006/main">
            <a:off x="400050" y="4562475"/>
            <a:ext cx="5334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F6F421-3AA4-4675-98D1-15CC4CC1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672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Clinical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D18599-2FBE-4CF4-BF69-1BD8B4BD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867275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Staffing, policies, QAPI, IDG, medical director, 24/7 coverage and competencies</a:t>
            </a:r>
          </a:p>
        </p:txBody>
      </p:sp>
      <p:cxnSp>
        <p:nvCxnSpPr>
          <p:cNvPr id="100" name=""/>
          <p:cNvCxnSpPr/>
          <p:nvPr/>
        </p:nvCxnSpPr>
        <p:spPr>
          <a:xfrm xmlns:a="http://schemas.openxmlformats.org/drawingml/2006/main">
            <a:off x="400050" y="5695950"/>
            <a:ext cx="5334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F6607F-2882-4586-992D-BED28B3D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668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Systems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67C802-C866-4585-BD3D-ABF6ED8F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6685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EMR control, billing configuration, clearinghouse, DDE, records and cybersecurity</a:t>
            </a:r>
          </a:p>
        </p:txBody>
      </p:sp>
      <p:cxnSp>
        <p:nvCxnSpPr>
          <p:cNvPr id="103" name=""/>
          <p:cNvCxnSpPr/>
          <p:nvPr/>
        </p:nvCxnSpPr>
        <p:spPr>
          <a:xfrm xmlns:a="http://schemas.openxmlformats.org/drawingml/2006/main">
            <a:off x="6191250" y="2295525"/>
            <a:ext cx="5334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9A0470-FD7C-48D6-8112-463B6A43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003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Vendors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BE21C2-5C2A-43DF-A84A-0E4C061B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0325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DME, pharmacy, supplies, lab, facilities, insurance and service-level agreements</a:t>
            </a:r>
          </a:p>
        </p:txBody>
      </p:sp>
      <p:cxnSp>
        <p:nvCxnSpPr>
          <p:cNvPr id="106" name=""/>
          <p:cNvCxnSpPr/>
          <p:nvPr/>
        </p:nvCxnSpPr>
        <p:spPr>
          <a:xfrm xmlns:a="http://schemas.openxmlformats.org/drawingml/2006/main">
            <a:off x="6191250" y="3429000"/>
            <a:ext cx="5334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ABD804-0CE4-4F9C-BF70-599A0A19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Finance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F92C03-EA37-4CF0-9DCB-B9906791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3380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Banking, subledger, payroll, reserves, reconciliation and monthly close</a:t>
            </a:r>
          </a:p>
        </p:txBody>
      </p:sp>
      <p:cxnSp>
        <p:nvCxnSpPr>
          <p:cNvPr id="109" name=""/>
          <p:cNvCxnSpPr/>
          <p:nvPr/>
        </p:nvCxnSpPr>
        <p:spPr>
          <a:xfrm xmlns:a="http://schemas.openxmlformats.org/drawingml/2006/main">
            <a:off x="6191250" y="4562475"/>
            <a:ext cx="5334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F73360-BBD5-4366-B14E-5195B01E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672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Launch gate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FE5809-52DE-4972-9C14-6EF57D47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67275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Written approvals, testing, orientation, mock admission and signed readiness certificate</a:t>
            </a:r>
          </a:p>
        </p:txBody>
      </p:sp>
      <p:cxnSp>
        <p:nvCxnSpPr>
          <p:cNvPr id="112" name=""/>
          <p:cNvCxnSpPr/>
          <p:nvPr/>
        </p:nvCxnSpPr>
        <p:spPr>
          <a:xfrm xmlns:a="http://schemas.openxmlformats.org/drawingml/2006/main">
            <a:off x="6191250" y="5695950"/>
            <a:ext cx="5334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418351213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CF743F3-488F-4511-8FF1-3BD228EC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WORKING 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E0A6A4-7C43-42DD-9A84-FAA80531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Appendix B — Detailed RACI</a:t>
            </a:r>
          </a:p>
        </p:txBody>
      </p:sp>
      <p:cxnSp>
        <p:nvCxnSpPr>
          <p:cNvPr id="73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824D4D-CFC4-4E28-AA01-BBC6E498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3DF5EF-A9BB-40B3-BB1B-CD3A33A4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Workstream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54D56F-43CC-4E13-A8BB-429A70AB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287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Profound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2BB39B-CE60-49B4-A04E-09E1A47A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87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Azalea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E48405-E263-410C-8831-DEB65658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Tyler team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3B6CF4-C327-4ADE-8BC8-FCE3530C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4287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Advisor / vendor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76D326-EF05-4E03-BBFB-49E45E87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B728CA-EB82-421B-A588-8FF5B980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8595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Commercial + documents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881F1A-A86A-4041-8553-C3625FB0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859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DFC223-08A1-429D-B889-F29A6A8F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859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5D148C-8297-4414-BBED-BAE2D3BF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859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FA97FD-6148-4781-97FC-4A603B3B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8859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01BD52-8FB3-46B8-BA57-181BFC9F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57425"/>
            <a:ext cx="113919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48C2C1-51BB-438B-9C07-FC24F650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33625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TULIP + state license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C47A3B-9EC2-4A8F-A8F5-D8A5A924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3362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A/R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530052-51BA-45E4-8DD6-CAE1956C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3362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FF0169-182D-4873-85D4-02020939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3362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783A02-5299-4F24-BBBD-78799556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336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CD9699-8F9A-4581-87FC-D5159A88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05100"/>
            <a:ext cx="113919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A56F18-DC5D-444D-8E39-E8D15DD5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8130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PECOS / 855A + MAC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B7EDFF-3052-4D4F-9FFF-FFA36D68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8130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A/R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3C7C0A-7B8D-42BA-ABB1-D099FCBC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F39B0E-6E69-48B9-903D-BD1F3744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6C1771-5F83-4896-97D5-A7C345BD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813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760B06-A7F0-455A-AB79-1445A8AF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52775"/>
            <a:ext cx="113919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7BDF5F-5A67-49B9-B356-7BF563A1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28975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Clinical policies + QAPI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2C13DB-D58C-45C3-9DFD-84BC21E1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2897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6DF581-29AF-4CFA-BD85-BD122D42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2897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7B7FB1-C9D6-4422-9F1F-3B05C690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2897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CDDB9F-AE6B-467E-A24A-7A9EFEB1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289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B210D5-E35E-4D89-8735-165FBCAF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0450"/>
            <a:ext cx="113919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46ED5F-B512-4AA3-BFFC-D3278210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7665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Staff employment + payroll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87C635-D8AD-4F65-BFD5-4271ADE6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766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475E18-6A0D-46EB-B618-B02F869E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766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EE7665-F878-480C-BCD3-709D12DF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766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092A4E7-D9A4-4FEE-861D-DD14CEBD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766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357B1F7-F16C-4999-BE8B-F4A64326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48125"/>
            <a:ext cx="113919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3F3FE40-0CBF-4EBD-82BD-6A779F84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24325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FireNote / EMR decision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0083FDE-6722-4E01-A180-B4C1C9B0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2432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2076255-4E41-48FC-BD46-90AF6DDB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2432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907DAA0-1865-43D4-AB9A-013C2CC6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2432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2ED271E-2E44-4A6F-9340-A6430765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1243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3FECA29-617C-4166-BA8C-FA9BED62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95800"/>
            <a:ext cx="113919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514FC61-7CCE-44F5-8483-DFEF0E70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DME + other vendors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91FDA56-7794-4697-92D2-BAF76E80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7200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E3DD26A-DB4A-45F1-AE9F-2084DAEE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7200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247D2EC-E5DE-4CDC-84E2-47555CBA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7200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7948E25-4702-420F-BDE2-A08188FB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57DDA4A-1B29-4D60-9D6A-6EB9DF15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43475"/>
            <a:ext cx="113919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D82D85F-8A23-4F69-9841-CC0CD08C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19675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Billing + cash + close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AD8ABE6-DCC1-4771-8252-F026BAE8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1967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7D2B6E7-230F-4209-B43E-445284A7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1967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0E8AB29-CD01-47EC-8320-A61C45FF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1967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B956AFE-2ADF-47EB-9068-B7C7F308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0196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94C56F3-FD43-4093-8A69-A036384E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13919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A21B55B-1BDD-4B9A-80C7-6B6F99A9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46735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Training + mock admission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C7B7E32-3A5C-4191-A1CE-6E64EAFB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4673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BC6B950-7E59-4D38-B36E-481B75EF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673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7A24A3D-5AA4-4344-81BB-C72D5DFD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673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A8DB198-CC45-40B8-A59A-7063698F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4673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E1E3C66-6031-416D-AC9C-5F6D285E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Replace role-level placeholders with names, due dates and evidence of completion during the meeting.</a:t>
            </a:r>
          </a:p>
        </p:txBody>
      </p:sp>
    </p:spTree>
    <p:extLst>
      <p:ext uri="{BB962C8B-B14F-4D97-AF65-F5344CB8AC3E}">
        <p14:creationId xmlns:p14="http://schemas.microsoft.com/office/powerpoint/2010/main" val="1883422993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5F8F2D-77C7-4915-8CB1-F7FBB684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WORKING 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609ED4-3359-4C98-A1FC-CD660DBC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Appendix C — Vendor approval gates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D90404-A19B-4CA6-9438-555CF7E4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DABA36-2D94-4ACF-8F87-D468F3CA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35623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9973EB-71B5-495B-91FB-DB926C2E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EMR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B69AE4-3F09-40F8-86CC-FB9C0A34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3105150" cy="327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Profound administrator access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Complete authoritative record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Audit trail and authentication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Export and six-year retention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HIPAA / BAA / security review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HOPE, QAPI and supervisory workflows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Claims, ERA and AR configuration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Training and support plan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35E372-42A6-47D5-9A09-9F085FB7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600200"/>
            <a:ext cx="35623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112A2F-C371-48A7-AF0B-25A33612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80975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DME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4238EA-94A0-44B0-8BAA-5562FABE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228850"/>
            <a:ext cx="3105150" cy="327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Profound-approved agreement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Service-area coverage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24/7 service and escalation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Formulary and authorization rules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Pricing and invoice detail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EMR integration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Patient transition protocol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Retrieval and equipment ownership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63A4F5-D960-4F3B-8357-55B75E8D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00200"/>
            <a:ext cx="35623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D685B0-725F-44E9-862D-E33F65A6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0975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Payroll + billing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E65D44-DE38-45DB-B423-532E764E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28850"/>
            <a:ext cx="3105150" cy="327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One quarterly tax filer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Profound employer setup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Tyler department / cost center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Azalea prefunding mechanics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Claims credentials and clearinghouse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DDE / eligibility access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Patient-level cash attribution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Monthly reconciliation calendar</a:t>
            </a:r>
          </a:p>
        </p:txBody>
      </p:sp>
    </p:spTree>
    <p:extLst>
      <p:ext uri="{BB962C8B-B14F-4D97-AF65-F5344CB8AC3E}">
        <p14:creationId xmlns:p14="http://schemas.microsoft.com/office/powerpoint/2010/main" val="81014724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4EE099-E5CA-42F7-90C8-5D6B1C64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WORKING 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0AF47A-8990-4D96-9FB6-3AE7AEAFC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Appendix D — Implementation calendar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FEBC15-42C9-4064-85BE-1AD3E0BD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E3F3C1-E1F8-4DE5-9FC5-9AAFA710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18954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10B45D-7B6D-459F-A123-A2CE4407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85925"/>
            <a:ext cx="1743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Aug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687B5D-AEA3-47C4-A0B2-3DAC0B3A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571625"/>
            <a:ext cx="18954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0C715A-3F51-4AB2-8DC8-8669CC36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1685925"/>
            <a:ext cx="1743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Aug 11–14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A86339-7DA1-492B-9C34-CA852DF6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71625"/>
            <a:ext cx="18954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B9D2C9-8775-44CC-B11E-AF5B1C66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85925"/>
            <a:ext cx="1743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Aug 17–21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63426F-6271-4FAC-ABAE-71FA1FFA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71625"/>
            <a:ext cx="18954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4DA3AD-CBAE-4BEE-B542-5405CDF5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685925"/>
            <a:ext cx="1743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Aug 24–28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3AB688-7923-4DF7-B496-B9324683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71625"/>
            <a:ext cx="18954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BDD17E-D513-4D8B-B20C-80E25B16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85925"/>
            <a:ext cx="1743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Aug 31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C8B6E0-53B1-4109-9AC6-A4A7D415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1571625"/>
            <a:ext cx="18954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55E788-FC72-4B34-BC57-B68639C6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685925"/>
            <a:ext cx="1743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Sep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15FA0F-CE43-42B2-9DA2-F7E1B5B2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05050"/>
            <a:ext cx="174307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752E15-49B5-449E-A6A5-C4FFFE68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90775"/>
            <a:ext cx="1514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Framework + owners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32844E-4385-48D6-8148-178FC9E0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19400"/>
            <a:ext cx="36385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33F192-36B6-446D-850A-9FB7CFCF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05125"/>
            <a:ext cx="3409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Counsel / advisor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38B7CD-8B47-46D7-8733-4E153D0A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333750"/>
            <a:ext cx="553402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96B3DC-A73D-456D-8292-8C4CAB96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419475"/>
            <a:ext cx="5305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TULIP + PECOS / CMS pathway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585F71-1791-4EB3-82C4-DD55041F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848100"/>
            <a:ext cx="36385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4C329B-25E9-4560-8A05-2F799F7A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933825"/>
            <a:ext cx="3409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Payroll, EMR + vendor setup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C30A74-7D5D-438F-9945-DBA951BD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62450"/>
            <a:ext cx="36385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A5FD23-5C7A-4C92-ADC1-B0BBBE37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48175"/>
            <a:ext cx="3409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Policies, training + testing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8DF52E-0CA5-4392-83DC-0F5AAB9C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876800"/>
            <a:ext cx="36385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C5B0E0-65D0-4AE8-B7C8-ED3D6387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962525"/>
            <a:ext cx="3409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Readiness gate + first admission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30488D-B188-4B14-AD0D-D06151BF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391150"/>
            <a:ext cx="174307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23C0A0-9E1F-484F-8087-9C7654BF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5476875"/>
            <a:ext cx="1514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$7,500 implementation payment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B35627-8660-47AA-ACBC-D68F17D1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98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The sequence is directional until Profound’s licensing specialist, MAC, accreditation organization and counsel confirm the actual approval path.</a:t>
            </a:r>
          </a:p>
        </p:txBody>
      </p:sp>
    </p:spTree>
    <p:extLst>
      <p:ext uri="{BB962C8B-B14F-4D97-AF65-F5344CB8AC3E}">
        <p14:creationId xmlns:p14="http://schemas.microsoft.com/office/powerpoint/2010/main" val="976480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2026-08-07T21:11:04.1180000Z</dcterms:created>
  <dcterms:modified xsi:type="dcterms:W3CDTF">2026-08-07T21:11:04.1180000Z</dcterms:modified>
</coreProperties>
</file>