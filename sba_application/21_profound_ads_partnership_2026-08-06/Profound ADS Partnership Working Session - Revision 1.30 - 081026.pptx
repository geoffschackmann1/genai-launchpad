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befefd057d4134" /><Relationship Type="http://schemas.openxmlformats.org/officeDocument/2006/relationships/extended-properties" Target="/docProps/app.xml" Id="R58766aa55ea54b04" /><Relationship Type="http://schemas.openxmlformats.org/officeDocument/2006/relationships/officeDocument" Target="/ppt/presentation.xml" Id="Rddbc6c8a038745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be8b0f59114079"/>
  </p:sldMasterIdLst>
  <p:notesMasterIdLst>
    <p:notesMasterId xmlns:r="http://schemas.openxmlformats.org/officeDocument/2006/relationships" r:id="Re518fc40bcbe4ac0"/>
  </p:notesMasterIdLst>
  <p:sldIdLst>
    <p:sldId xmlns:r="http://schemas.openxmlformats.org/officeDocument/2006/relationships" id="256" r:id="R7dbb7ac05a0f428f"/>
    <p:sldId xmlns:r="http://schemas.openxmlformats.org/officeDocument/2006/relationships" id="257" r:id="R31c9ebe110044b4d"/>
    <p:sldId xmlns:r="http://schemas.openxmlformats.org/officeDocument/2006/relationships" id="258" r:id="Raf24905f485b4798"/>
    <p:sldId xmlns:r="http://schemas.openxmlformats.org/officeDocument/2006/relationships" id="259" r:id="R7d404d001732440f"/>
    <p:sldId xmlns:r="http://schemas.openxmlformats.org/officeDocument/2006/relationships" id="260" r:id="R22ad431c8c7f4ab3"/>
    <p:sldId xmlns:r="http://schemas.openxmlformats.org/officeDocument/2006/relationships" id="261" r:id="R8260de12dcbf4909"/>
    <p:sldId xmlns:r="http://schemas.openxmlformats.org/officeDocument/2006/relationships" id="262" r:id="R86b175a8a7f643b2"/>
    <p:sldId xmlns:r="http://schemas.openxmlformats.org/officeDocument/2006/relationships" id="263" r:id="Rf59a3d44e11444ce"/>
    <p:sldId xmlns:r="http://schemas.openxmlformats.org/officeDocument/2006/relationships" id="264" r:id="R27397f9915cb4c41"/>
    <p:sldId xmlns:r="http://schemas.openxmlformats.org/officeDocument/2006/relationships" id="265" r:id="Re6862244d32a4730"/>
    <p:sldId xmlns:r="http://schemas.openxmlformats.org/officeDocument/2006/relationships" id="266" r:id="Rdf8611d866554364"/>
    <p:sldId xmlns:r="http://schemas.openxmlformats.org/officeDocument/2006/relationships" id="267" r:id="R162fafd1c89a4c05"/>
    <p:sldId xmlns:r="http://schemas.openxmlformats.org/officeDocument/2006/relationships" id="268" r:id="R49b740667a6c4ef2"/>
    <p:sldId xmlns:r="http://schemas.openxmlformats.org/officeDocument/2006/relationships" id="269" r:id="R54d0afc9102a42d6"/>
    <p:sldId xmlns:r="http://schemas.openxmlformats.org/officeDocument/2006/relationships" id="270" r:id="Rb8e7191b8dce4254"/>
    <p:sldId xmlns:r="http://schemas.openxmlformats.org/officeDocument/2006/relationships" id="271" r:id="R9455f4165a1f483b"/>
    <p:sldId xmlns:r="http://schemas.openxmlformats.org/officeDocument/2006/relationships" id="272" r:id="R386d3d1427ad4acf"/>
    <p:sldId xmlns:r="http://schemas.openxmlformats.org/officeDocument/2006/relationships" id="273" r:id="R168686c9fd104033"/>
    <p:sldId xmlns:r="http://schemas.openxmlformats.org/officeDocument/2006/relationships" id="274" r:id="Rf1c099e9809b4e6c"/>
    <p:sldId xmlns:r="http://schemas.openxmlformats.org/officeDocument/2006/relationships" id="275" r:id="Rfaea05f3be8847c0"/>
    <p:sldId xmlns:r="http://schemas.openxmlformats.org/officeDocument/2006/relationships" id="276" r:id="R48e4bc7d1ce140bb"/>
    <p:sldId xmlns:r="http://schemas.openxmlformats.org/officeDocument/2006/relationships" id="277" r:id="R280ba8c1b92f4086"/>
    <p:sldId xmlns:r="http://schemas.openxmlformats.org/officeDocument/2006/relationships" id="278" r:id="R305cf7a8b5fc4733"/>
    <p:sldId xmlns:r="http://schemas.openxmlformats.org/officeDocument/2006/relationships" id="279" r:id="R7839a18d158740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8e64017328432a" /><Relationship Type="http://schemas.openxmlformats.org/officeDocument/2006/relationships/slideMaster" Target="/ppt/slideMasters/slideMaster1.xml" Id="R05be8b0f59114079" /><Relationship Type="http://schemas.openxmlformats.org/officeDocument/2006/relationships/notesMaster" Target="/ppt/notesMasters/notesMaster1.xml" Id="Re518fc40bcbe4ac0" /><Relationship Type="http://schemas.openxmlformats.org/officeDocument/2006/relationships/presProps" Target="/ppt/presProps.xml" Id="R6446cb9590d740e7" /><Relationship Type="http://schemas.openxmlformats.org/officeDocument/2006/relationships/tableStyles" Target="/ppt/tableStyles.xml" Id="Rf64ffcb85dd4410e" /><Relationship Type="http://schemas.openxmlformats.org/officeDocument/2006/relationships/slide" Target="/ppt/slides/slide1.xml" Id="R7dbb7ac05a0f428f" /><Relationship Type="http://schemas.openxmlformats.org/officeDocument/2006/relationships/slide" Target="/ppt/slides/slide2.xml" Id="R31c9ebe110044b4d" /><Relationship Type="http://schemas.openxmlformats.org/officeDocument/2006/relationships/slide" Target="/ppt/slides/slide3.xml" Id="Raf24905f485b4798" /><Relationship Type="http://schemas.openxmlformats.org/officeDocument/2006/relationships/slide" Target="/ppt/slides/slide4.xml" Id="R7d404d001732440f" /><Relationship Type="http://schemas.openxmlformats.org/officeDocument/2006/relationships/slide" Target="/ppt/slides/slide5.xml" Id="R22ad431c8c7f4ab3" /><Relationship Type="http://schemas.openxmlformats.org/officeDocument/2006/relationships/slide" Target="/ppt/slides/slide6.xml" Id="R8260de12dcbf4909" /><Relationship Type="http://schemas.openxmlformats.org/officeDocument/2006/relationships/slide" Target="/ppt/slides/slide7.xml" Id="R86b175a8a7f643b2" /><Relationship Type="http://schemas.openxmlformats.org/officeDocument/2006/relationships/slide" Target="/ppt/slides/slide8.xml" Id="Rf59a3d44e11444ce" /><Relationship Type="http://schemas.openxmlformats.org/officeDocument/2006/relationships/slide" Target="/ppt/slides/slide9.xml" Id="R27397f9915cb4c41" /><Relationship Type="http://schemas.openxmlformats.org/officeDocument/2006/relationships/slide" Target="/ppt/slides/slide10.xml" Id="Re6862244d32a4730" /><Relationship Type="http://schemas.openxmlformats.org/officeDocument/2006/relationships/slide" Target="/ppt/slides/slide11.xml" Id="Rdf8611d866554364" /><Relationship Type="http://schemas.openxmlformats.org/officeDocument/2006/relationships/slide" Target="/ppt/slides/slide12.xml" Id="R162fafd1c89a4c05" /><Relationship Type="http://schemas.openxmlformats.org/officeDocument/2006/relationships/slide" Target="/ppt/slides/slide13.xml" Id="R49b740667a6c4ef2" /><Relationship Type="http://schemas.openxmlformats.org/officeDocument/2006/relationships/slide" Target="/ppt/slides/slide14.xml" Id="R54d0afc9102a42d6" /><Relationship Type="http://schemas.openxmlformats.org/officeDocument/2006/relationships/slide" Target="/ppt/slides/slide15.xml" Id="Rb8e7191b8dce4254" /><Relationship Type="http://schemas.openxmlformats.org/officeDocument/2006/relationships/slide" Target="/ppt/slides/slide16.xml" Id="R9455f4165a1f483b" /><Relationship Type="http://schemas.openxmlformats.org/officeDocument/2006/relationships/slide" Target="/ppt/slides/slide17.xml" Id="R386d3d1427ad4acf" /><Relationship Type="http://schemas.openxmlformats.org/officeDocument/2006/relationships/slide" Target="/ppt/slides/slide18.xml" Id="R168686c9fd104033" /><Relationship Type="http://schemas.openxmlformats.org/officeDocument/2006/relationships/slide" Target="/ppt/slides/slide19.xml" Id="Rf1c099e9809b4e6c" /><Relationship Type="http://schemas.openxmlformats.org/officeDocument/2006/relationships/slide" Target="/ppt/slides/slide20.xml" Id="Rfaea05f3be8847c0" /><Relationship Type="http://schemas.openxmlformats.org/officeDocument/2006/relationships/slide" Target="/ppt/slides/slide21.xml" Id="R48e4bc7d1ce140bb" /><Relationship Type="http://schemas.openxmlformats.org/officeDocument/2006/relationships/slide" Target="/ppt/slides/slide22.xml" Id="R280ba8c1b92f4086" /><Relationship Type="http://schemas.openxmlformats.org/officeDocument/2006/relationships/slide" Target="/ppt/slides/slide23.xml" Id="R305cf7a8b5fc4733" /><Relationship Type="http://schemas.openxmlformats.org/officeDocument/2006/relationships/slide" Target="/ppt/slides/slide24.xml" Id="R7839a18d1587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356cfdea9941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1a7ff515b64418" /><Relationship Type="http://schemas.openxmlformats.org/officeDocument/2006/relationships/notesMaster" Target="/ppt/notesMasters/notesMaster1.xml" Id="Rd4f2bd0a217e4f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7fe2ec763e4708" /><Relationship Type="http://schemas.openxmlformats.org/officeDocument/2006/relationships/notesMaster" Target="/ppt/notesMasters/notesMaster1.xml" Id="R7efe8059b2c14e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5b3d8a820d4509" /><Relationship Type="http://schemas.openxmlformats.org/officeDocument/2006/relationships/notesMaster" Target="/ppt/notesMasters/notesMaster1.xml" Id="Rd476e3a3bde84c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7350ea17384df1" /><Relationship Type="http://schemas.openxmlformats.org/officeDocument/2006/relationships/notesMaster" Target="/ppt/notesMasters/notesMaster1.xml" Id="R7f08e5ba0bc64e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958d50c1714d5d" /><Relationship Type="http://schemas.openxmlformats.org/officeDocument/2006/relationships/notesMaster" Target="/ppt/notesMasters/notesMaster1.xml" Id="Rcd161b7f0a3a47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b94e0d27a943f6" /><Relationship Type="http://schemas.openxmlformats.org/officeDocument/2006/relationships/notesMaster" Target="/ppt/notesMasters/notesMaster1.xml" Id="Rb840e79644d04c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743d83c0f74ad1" /><Relationship Type="http://schemas.openxmlformats.org/officeDocument/2006/relationships/notesMaster" Target="/ppt/notesMasters/notesMaster1.xml" Id="Rdd848253908143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c65b0bf5aa4177" /><Relationship Type="http://schemas.openxmlformats.org/officeDocument/2006/relationships/notesMaster" Target="/ppt/notesMasters/notesMaster1.xml" Id="R260431547f6543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63fb0e65b74739" /><Relationship Type="http://schemas.openxmlformats.org/officeDocument/2006/relationships/notesMaster" Target="/ppt/notesMasters/notesMaster1.xml" Id="Red16cb396cae4c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253205d53b4dc5" /><Relationship Type="http://schemas.openxmlformats.org/officeDocument/2006/relationships/notesMaster" Target="/ppt/notesMasters/notesMaster1.xml" Id="R97b1c90faadc4a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4e948bf294ca0" /><Relationship Type="http://schemas.openxmlformats.org/officeDocument/2006/relationships/notesMaster" Target="/ppt/notesMasters/notesMaster1.xml" Id="R114796f8f6f448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33a3aa5d4a4552" /><Relationship Type="http://schemas.openxmlformats.org/officeDocument/2006/relationships/notesMaster" Target="/ppt/notesMasters/notesMaster1.xml" Id="R7d3ee7edb88d47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b8d613b4e24fbc" /><Relationship Type="http://schemas.openxmlformats.org/officeDocument/2006/relationships/notesMaster" Target="/ppt/notesMasters/notesMaster1.xml" Id="R2ce21b99536744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811dcfc01c4c6f" /><Relationship Type="http://schemas.openxmlformats.org/officeDocument/2006/relationships/notesMaster" Target="/ppt/notesMasters/notesMaster1.xml" Id="Ra03c77c4dee847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58b7fc9e34420b" /><Relationship Type="http://schemas.openxmlformats.org/officeDocument/2006/relationships/notesMaster" Target="/ppt/notesMasters/notesMaster1.xml" Id="R5d993ab981ea4f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7362595e444ce4" /><Relationship Type="http://schemas.openxmlformats.org/officeDocument/2006/relationships/notesMaster" Target="/ppt/notesMasters/notesMaster1.xml" Id="Rbbcb42ce63ad4a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ed3833c5f24fbc" /><Relationship Type="http://schemas.openxmlformats.org/officeDocument/2006/relationships/notesMaster" Target="/ppt/notesMasters/notesMaster1.xml" Id="R18de68805e3946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4fcc11bd454ceb" /><Relationship Type="http://schemas.openxmlformats.org/officeDocument/2006/relationships/notesMaster" Target="/ppt/notesMasters/notesMaster1.xml" Id="R9346bbee9ffc4e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8fca082d11451b" /><Relationship Type="http://schemas.openxmlformats.org/officeDocument/2006/relationships/notesMaster" Target="/ppt/notesMasters/notesMaster1.xml" Id="Rbecf91d87fe64e1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a2cacda48a4201" /><Relationship Type="http://schemas.openxmlformats.org/officeDocument/2006/relationships/notesMaster" Target="/ppt/notesMasters/notesMaster1.xml" Id="R9b257954dabd48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614ede6cee047ad" /><Relationship Type="http://schemas.openxmlformats.org/officeDocument/2006/relationships/notesMaster" Target="/ppt/notesMasters/notesMaster1.xml" Id="R5dd7e18cd63847b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a0a553cae6c4a79" /><Relationship Type="http://schemas.openxmlformats.org/officeDocument/2006/relationships/notesMaster" Target="/ppt/notesMasters/notesMaster1.xml" Id="R97bde71546ee41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e83b879e594242" /><Relationship Type="http://schemas.openxmlformats.org/officeDocument/2006/relationships/notesMaster" Target="/ppt/notesMasters/notesMaster1.xml" Id="R355fc24a7f584b3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5e32b5f9b864534" /><Relationship Type="http://schemas.openxmlformats.org/officeDocument/2006/relationships/notesMaster" Target="/ppt/notesMasters/notesMaster1.xml" Id="R5d955a7b4c634f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upfront contract for the four-hour working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Azalea Hospice Proforma - Rev 5.20 - 080626.xlsx; P&amp;L C23:D23 reports Month 1 and Month 2 total operating expenses.</a:t>
            </a:r>
          </a:p>
          <a:p xmlns:a="http://schemas.openxmlformats.org/drawingml/2006/main">
            <a:r>
              <a:t>- The same workbook's Cash Flow &amp; Runway C46:D48 reports Month 1 and Month 2 operating cash uses before capital, tax and financing; these are distinct from P&amp;L operating expenses.</a:t>
            </a:r>
          </a:p>
          <a:p xmlns:a="http://schemas.openxmlformats.org/drawingml/2006/main">
            <a:r>
              <a:t>- Internal working assumptions confirmed by Geoff Schackmann, August 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Silas should lead this section and invite Patrick to map his existing team into the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HHSC ADS guidance on authority and supervision: https://apps.hhs.texas.gov/providers/hcssa/cbt/module6/HCSSA_PresurveyCBT_Module_6_0603202121.html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FireNote as predetermined. Present a controlled clinical review and shared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FireNote product claims (vendor-provided): https://firenote.health/compliance-solutions and https://firenote.health/how-firenote-works</a:t>
            </a:r>
          </a:p>
          <a:p xmlns:a="http://schemas.openxmlformats.org/drawingml/2006/main">
            <a:r>
              <a:t>- Hospice Tools pricing and product claims (vendor-provided): https://www.hospicetools.com/pricing/</a:t>
            </a:r>
          </a:p>
          <a:p xmlns:a="http://schemas.openxmlformats.org/drawingml/2006/main">
            <a:r>
              <a:t>- DME Express integration claims (vendor-provided): https://dmeexpress.com/technology/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to schedule this follow-up immediately. The clinical users should decide against agreed acceptance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418.104: https://www.law.cornell.edu/cfr/text/42/418.104</a:t>
            </a:r>
          </a:p>
          <a:p xmlns:a="http://schemas.openxmlformats.org/drawingml/2006/main">
            <a:r>
              <a:t>- CMS-855A medical-record storage and provider-control instructions: https://www.cms.gov/medicare/cms-forms/cms-forms/downloads/cms855a.pdf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promise that two unrelated payroll providers can file under one EIN. The base case requires one filer.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418.64 core-services employment rule: https://ecfr.io/Title-42/Section-418.64</a:t>
            </a:r>
          </a:p>
          <a:p xmlns:a="http://schemas.openxmlformats.org/drawingml/2006/main">
            <a:r>
              <a:t>- 42 C.F.R. § 418.100 governing-body and administrator requirements: https://www.ecfr.gov/current/title-42/chapter-IV/subchapter-B/part-418/subpart-D/section-418.100</a:t>
            </a:r>
          </a:p>
          <a:p xmlns:a="http://schemas.openxmlformats.org/drawingml/2006/main">
            <a:r>
              <a:t>- Gusto guidance on one filer per quarter: https://support.gusto.com/article/250327190420853/payroll-tax-responsibilities-when-switching-to-gusto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Patrick to identify his MAC, accreditation organization, current licensed service area and TULIP access during the meeting.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Tyler ADS address provided by Geoff Schackmann on August 6, 2026.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Texas HHSC ADS guidance: https://apps.hhs.texas.gov/providers/hcssa/cbt/module6/HCSSA_PresurveyCBT_Module_6_0603202121.html</a:t>
            </a:r>
          </a:p>
          <a:p xmlns:a="http://schemas.openxmlformats.org/drawingml/2006/main">
            <a:r>
              <a:t>- 42 C.F.R. § 418.100(f): https://www.ecfr.gov/current/title-42/chapter-IV/subchapter-B/part-418/subpart-D/section-418.100</a:t>
            </a:r>
          </a:p>
          <a:p xmlns:a="http://schemas.openxmlformats.org/drawingml/2006/main">
            <a:r>
              <a:t>- CMS-855A, Section 4: https://www.cms.gov/medicare/cms-forms/cms-forms/downloads/cms855a.pdf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 draft. Resolve role conflicts in the detailed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Profound Counsel Memorandum - Working Draft Revision 1.00 - 080626.</a:t>
            </a:r>
          </a:p>
          <a:p xmlns:a="http://schemas.openxmlformats.org/drawingml/2006/main">
            <a:r>
              <a:t>- Profound Financial Advisor Memorandum - Working Draft Revision 1.00 - 080626.</a:t>
            </a:r>
          </a:p>
          <a:p xmlns:a="http://schemas.openxmlformats.org/drawingml/2006/main">
            <a:r>
              <a:t>- Internal working assumptions confirmed by Geoff Schackmann, August 6–7,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CMS-855A: https://www.cms.gov/medicare/cms-forms/cms-forms/downloads/cms855a.pdf</a:t>
            </a:r>
          </a:p>
          <a:p xmlns:a="http://schemas.openxmlformats.org/drawingml/2006/main">
            <a:r>
              <a:t>- 42 C.F.R. § 418.100(f): https://www.ecfr.gov/current/title-42/chapter-IV/subchapter-B/part-418/subpart-D/section-418.100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working assumptions confirmed by Geoff Schackmann, August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- 42 C.F.R. § 418.104: https://www.law.cornell.edu/cfr/text/42/418.104</a:t>
            </a:r>
          </a:p>
          <a:p xmlns:a="http://schemas.openxmlformats.org/drawingml/2006/main">
            <a:r>
              <a:t>- CMS-855A: https://www.cms.gov/medicare/cms-forms/cms-forms/downloads/cms855a.pdf</a:t>
            </a:r>
          </a:p>
          <a:p xmlns:a="http://schemas.openxmlformats.org/drawingml/2006/main">
            <a:r>
              <a:t>- Gusto filing guidance: https://support.gusto.com/article/250327190420853/payroll-tax-responsibilities-when-switching-to-gusto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Texas TULIP training guide: https://www.hhs.texas.gov/sites/default/files/documents/doing-business-with-hhs/licensing-credentialing-regulation/tulip/tulip-training-guide.pdf</a:t>
            </a:r>
          </a:p>
          <a:p xmlns:a="http://schemas.openxmlformats.org/drawingml/2006/main">
            <a:r>
              <a:t>- CMS institutional enrollment guidance: https://www.cms.gov/medicare/enrollment-renewal/providers-suppliers/chain-ownership-system-pecos/enroll-as-institutional-provider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bff5ec379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f2d30339914d35" /><Relationship Type="http://schemas.openxmlformats.org/officeDocument/2006/relationships/slideLayout" Target="/ppt/slideLayouts/slideLayout1.xml" Id="Rc72f19be58dc45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2f19be58dc45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3294833da4630" /><Relationship Type="http://schemas.openxmlformats.org/officeDocument/2006/relationships/notesSlide" Target="/ppt/notesSlides/notesSlide1.xml" Id="R90a7c2c0ecef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4cc689b1148bb" /><Relationship Type="http://schemas.openxmlformats.org/officeDocument/2006/relationships/notesSlide" Target="/ppt/notesSlides/notesSlide2.xml" Id="R80d5e64be3634e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35ffd61674859" /><Relationship Type="http://schemas.openxmlformats.org/officeDocument/2006/relationships/notesSlide" Target="/ppt/notesSlides/notesSlide3.xml" Id="R663420aa8a444f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a6dd1f86b42d2" /><Relationship Type="http://schemas.openxmlformats.org/officeDocument/2006/relationships/notesSlide" Target="/ppt/notesSlides/notesSlide4.xml" Id="R9c367e16cb2d4a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5c2ac6e074b5b" /><Relationship Type="http://schemas.openxmlformats.org/officeDocument/2006/relationships/notesSlide" Target="/ppt/notesSlides/notesSlide5.xml" Id="R8083d294dded43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a96699aa2470e" /><Relationship Type="http://schemas.openxmlformats.org/officeDocument/2006/relationships/notesSlide" Target="/ppt/notesSlides/notesSlide6.xml" Id="R5109242298ff4f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90665cb324252" /><Relationship Type="http://schemas.openxmlformats.org/officeDocument/2006/relationships/notesSlide" Target="/ppt/notesSlides/notesSlide7.xml" Id="Rc9fad754d5be40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3d9b46f42496e" /><Relationship Type="http://schemas.openxmlformats.org/officeDocument/2006/relationships/notesSlide" Target="/ppt/notesSlides/notesSlide8.xml" Id="R94959070337243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21398aa4f469d" /><Relationship Type="http://schemas.openxmlformats.org/officeDocument/2006/relationships/notesSlide" Target="/ppt/notesSlides/notesSlide9.xml" Id="Rbdebf57d4bb944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88716e9b9408e" /><Relationship Type="http://schemas.openxmlformats.org/officeDocument/2006/relationships/notesSlide" Target="/ppt/notesSlides/notesSlide10.xml" Id="R14105e18a92a4a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75207e0984cec" /><Relationship Type="http://schemas.openxmlformats.org/officeDocument/2006/relationships/notesSlide" Target="/ppt/notesSlides/notesSlide11.xml" Id="Rd01991636fbb45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7c0f656064ba2" /><Relationship Type="http://schemas.openxmlformats.org/officeDocument/2006/relationships/notesSlide" Target="/ppt/notesSlides/notesSlide12.xml" Id="Ra7b2f89a0d5349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60d45cd004dfb" /><Relationship Type="http://schemas.openxmlformats.org/officeDocument/2006/relationships/notesSlide" Target="/ppt/notesSlides/notesSlide13.xml" Id="R3af6b217cebe40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f785f65124471" /><Relationship Type="http://schemas.openxmlformats.org/officeDocument/2006/relationships/notesSlide" Target="/ppt/notesSlides/notesSlide14.xml" Id="R3cdf081b6f6248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b0c8681714371" /><Relationship Type="http://schemas.openxmlformats.org/officeDocument/2006/relationships/notesSlide" Target="/ppt/notesSlides/notesSlide15.xml" Id="R416dd75ac7614c8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bdfe6e5e64d9a" /><Relationship Type="http://schemas.openxmlformats.org/officeDocument/2006/relationships/notesSlide" Target="/ppt/notesSlides/notesSlide16.xml" Id="R4876bf592cf842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cc70a237b48f8" /><Relationship Type="http://schemas.openxmlformats.org/officeDocument/2006/relationships/notesSlide" Target="/ppt/notesSlides/notesSlide17.xml" Id="Rce8f0406e66348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4edd030194c0d" /><Relationship Type="http://schemas.openxmlformats.org/officeDocument/2006/relationships/notesSlide" Target="/ppt/notesSlides/notesSlide18.xml" Id="R2b9fede3091549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ef66b13614131" /><Relationship Type="http://schemas.openxmlformats.org/officeDocument/2006/relationships/notesSlide" Target="/ppt/notesSlides/notesSlide19.xml" Id="R907c4a5b724645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cd9d81feb47de" /><Relationship Type="http://schemas.openxmlformats.org/officeDocument/2006/relationships/notesSlide" Target="/ppt/notesSlides/notesSlide20.xml" Id="R71d75418a5eb44c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0dd1db9344ec9" /><Relationship Type="http://schemas.openxmlformats.org/officeDocument/2006/relationships/notesSlide" Target="/ppt/notesSlides/notesSlide21.xml" Id="R691cfa7ac1574d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739035acc46db" /><Relationship Type="http://schemas.openxmlformats.org/officeDocument/2006/relationships/notesSlide" Target="/ppt/notesSlides/notesSlide22.xml" Id="R5b13fe2bbee3469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3e6435a4d4c66" /><Relationship Type="http://schemas.openxmlformats.org/officeDocument/2006/relationships/notesSlide" Target="/ppt/notesSlides/notesSlide23.xml" Id="Rffeaeebf0b7c4f1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5f0a762fa4f67" /><Relationship Type="http://schemas.openxmlformats.org/officeDocument/2006/relationships/notesSlide" Target="/ppt/notesSlides/notesSlide24.xml" Id="R369769bd050e4a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1D69F-2397-4ADB-86E8-AF87C691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WORKING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4E0E3-0D6E-4A2D-A622-708BE6F5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Profound × Azalea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Tyler ADS Partnership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2DAEC-9ECE-4537-BB93-CD24DF94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485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74773-2440-4A1F-ADB8-B3609B24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August 10, 2026  |  1:00–5:00 p.m. CT  |  Austin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4969D-1E5A-44AF-99EE-770F6D76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Objective: sign the framework, assign the launch work, and begin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847855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38CD7A-A37A-43AF-B852-DE52ECD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F1FA8-2DFB-42E3-8192-180C6B11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Today should convert alignment into an executable path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B67E-417B-453D-BEE0-E18FCC29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02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400050" y="20859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EC674-55E5-4D9D-B336-587044B8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621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E2EAA-03DD-470B-A74C-68327759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621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Confirm the operating and economic framework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400050" y="27717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BAD71-0EF8-4812-BBE6-89A6FBC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3323D-3792-48A1-B8E1-BA44D6E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Resolve authority, staffing, payroll, EMR and vendor decisions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34575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662DB-7EE6-4BDE-898E-19502ABA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33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444C9-A4A8-46B0-84A1-6F411ACF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Agree on TULIP, PECOS and Medicare approval workstreams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400050" y="4143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95CF0-7613-4E6D-BD61-B7AB1E1C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3C051-B4E0-475E-841A-F353117E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Assign accountable owners and target dates</a:t>
            </a:r>
          </a:p>
        </p:txBody>
      </p:sp>
      <p:cxnSp>
        <p:nvCxnSpPr>
          <p:cNvPr id="79" name=""/>
          <p:cNvCxnSpPr/>
          <p:nvPr/>
        </p:nvCxnSpPr>
        <p:spPr>
          <a:xfrm xmlns:a="http://schemas.openxmlformats.org/drawingml/2006/main">
            <a:off x="400050" y="48291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BBF69-A35B-4A58-8E8A-750BD363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C8C06-6EC1-44DD-8198-FB68F60E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Approve the advisor packages and document architecture</a:t>
            </a:r>
          </a:p>
        </p:txBody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400050" y="55149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44174-19EE-45C8-8C38-45DFE02F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911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91E6B-E43C-4828-A012-B3E4B223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Finalize the non-binding term sheet for signature</a:t>
            </a:r>
          </a:p>
        </p:txBody>
      </p:sp>
    </p:spTree>
    <p:extLst>
      <p:ext uri="{BB962C8B-B14F-4D97-AF65-F5344CB8AC3E}">
        <p14:creationId xmlns:p14="http://schemas.microsoft.com/office/powerpoint/2010/main" val="8102148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245B0-49E7-4659-8491-5E8793B5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85039-56CB-4FD2-B3E3-6B9A7CD6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concept is aligned; documentation and launch controls remain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3BE74-2DAD-4985-B9FF-DD858E05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4DDCA-EE08-4A40-AF16-DC7A8F0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BA2CB-F65D-4343-90DB-9F3F5A54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Aligned in 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297D7-D88A-4CC4-91FA-73FD80D7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Tyler ADS under Profound’s provider platform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Azalea funds the Tyler operation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$7,500 monthly implementation and oversight fee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Direct costs reimbursed at cost, without 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6409E-CFE4-484B-A1FC-A22A2AC4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25BD5-7317-4BE2-BCBA-2518F9E0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Still to 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E872B-71BB-4E8D-B40B-0893F3D8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Profound authority and the launch go/no-go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September payment instrument and Patrick’s transition election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Payroll, EMR, billing, vendor and cash controls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• Advisor redlines and definitive-document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A17AC-4F87-46FE-A848-76D620AA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Working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6DD96-2116-401E-9562-9034AD2D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Agreement in principle — subject to financial-advisor review, legal review, regulatory approval and definitive documents.</a:t>
            </a:r>
          </a:p>
        </p:txBody>
      </p:sp>
    </p:spTree>
    <p:extLst>
      <p:ext uri="{BB962C8B-B14F-4D97-AF65-F5344CB8AC3E}">
        <p14:creationId xmlns:p14="http://schemas.microsoft.com/office/powerpoint/2010/main" val="6852666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29134-BC26-4568-BED8-ACD65C68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5C354-335B-46B9-9D8A-40B0130A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Profound receives near-term economics without funding the Tyler launch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452AD-EA32-4766-8354-76FF2332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5BB07-F209-4B11-B1E5-C1153D9A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56B6B-66F3-48FA-A138-D0A9768D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Immediate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3DB9F-99A2-4C8E-BD4E-00881BE8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$7,500 monthly fee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Full reimbursement of direct Tyler costs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Tyler capital obligation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Transition consideration selected by Patrick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20942-7621-472A-998D-21F24D89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9E097-285E-4FC9-A2AB-814D3164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Azalea funding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1ACC4-A3C6-434D-9B09-78A0203F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$250,000 committed equity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Approximately $20,000 spent; approximately $230,000 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bank debt assumed for launch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Cap table: Geoff 36% | Jim 25% | employee group 39%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20039-997B-4B2A-BEB0-AD5DAAEC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1D835-6B8D-45EB-970F-2FF90B39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Strategic option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5D909-DE4D-4C2F-828E-34FB56FA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 12-month bridge with a mutual extension option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 working relationship that may continue after Azalea’s standalone 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No automatic long-term equity or permanent dependency</a:t>
            </a:r>
          </a:p>
        </p:txBody>
      </p:sp>
    </p:spTree>
    <p:extLst>
      <p:ext uri="{BB962C8B-B14F-4D97-AF65-F5344CB8AC3E}">
        <p14:creationId xmlns:p14="http://schemas.microsoft.com/office/powerpoint/2010/main" val="19529346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4C5BD-2FDC-4940-9EEC-7A10795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A8948-5C94-4879-A001-A07CE9B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entities are distinct; Profound remains the provider of record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8D73-9AC0-4A9C-8FA1-3A19B70F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05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272415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632460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9734550" y="2667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63CBE-E05C-421A-A79D-E68A944B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324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1FE9C-DCA2-4640-88C9-DA4E3CA2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Tyler Hospice Hold, LLC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D055C-1988-4844-BB0F-09400BC0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100% owner of future Tyler operating company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Funds Tyler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75202-1C13-43BA-BF89-4DBB428A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2476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9365F-C7A2-4F39-8F27-C62D9BC5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90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Tyler operating company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C8960-DAB0-4318-AE76-DA24B2E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2890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Identified; diligence underway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Intended DBA: Azalea Hospice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4E8A0-EDEC-4F1B-B07E-423635BF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2286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49BAF-B46C-4278-B8D0-D8C657E0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907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Profound Hospice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90CCB-7DE8-4309-B265-4F244B9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Licensed provider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Final clinical and compliance 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C6322-17F9-4669-AFC3-4AF7483C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52625"/>
            <a:ext cx="1200150" cy="14478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6AC1B-0006-49AC-AB70-865122C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2669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34A6D-863F-415D-80DD-209830D4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43200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Claims and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receipts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D038C-2DA1-4F50-989A-844FFAA0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Profound must remain the actual provider—not a billing conduit.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2673B-EB3D-405F-A157-34973236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Tyler Hospice Hold, LLC is intended to own 100% of the future Tyler operating company. That company has been identified and is in diligence; “Azalea Hospice” is the intended DBA. Profound remains the provider of record.</a:t>
            </a:r>
          </a:p>
        </p:txBody>
      </p:sp>
    </p:spTree>
    <p:extLst>
      <p:ext uri="{BB962C8B-B14F-4D97-AF65-F5344CB8AC3E}">
        <p14:creationId xmlns:p14="http://schemas.microsoft.com/office/powerpoint/2010/main" val="3275083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89301-30E4-4A48-A844-596BB5E9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AAC24-907A-45E7-9858-48EEBB93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economics are fixed, transparent and independent of referrals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C201B-3F7A-4319-9F85-A981164E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BDACA-B8D2-40DD-AD97-77059C59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D522A-2550-47A7-8EAA-7D0B9B6C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Monthly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7961B-C918-4A59-ADD5-E54D1F8A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$7,500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Target: September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Payment requires an expressly binding implementation provision or a short implementation letter after the framework is signed.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FA617-E10A-4D11-9DA5-C7F257EA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A8052-B8D9-4B4F-8351-E12D1DF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Direct costs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7789F-0266-4CB1-AB08-E8440BE0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Approved Tyler costs at actual cost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No markup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Documented and reconciled monthly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No Profound capital obligation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21E67-E536-47F9-AE0C-0A1CD49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08A29-C821-4E3F-A6FD-FF245CC5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Patrick’s 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F61AB-3C83-4137-B716-E4F1D278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31051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Patrick elects before definitive documents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/>
            </a:r>
          </a:p>
          <a:p xmlns:a="http://schemas.openxmlformats.org/drawingml/2006/main">
            <a:r>
              <a:t>Option A | $25,000 transition cash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Option B | $50,000 convertible note; terms developed with counsel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No exclusivity</a:t>
            </a:r>
          </a:p>
        </p:txBody>
      </p:sp>
    </p:spTree>
    <p:extLst>
      <p:ext uri="{BB962C8B-B14F-4D97-AF65-F5344CB8AC3E}">
        <p14:creationId xmlns:p14="http://schemas.microsoft.com/office/powerpoint/2010/main" val="13905424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D27951-060D-44F4-B494-18A576F0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5C930-DDB3-4BFA-8FF1-1A20EBC6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Profound’s protections are embedded in the operating model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817E1-5128-4905-A74F-2286D94E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DEDDD-F97A-4F4F-B974-9C826DC2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DCFB6-2DA9-43FB-B345-B5CC673A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Authority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86195-70FB-41FD-9AB2-F41FD444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81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Final admissions, clinical, policy, QAPI, billing and stop-admission control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>
            <a:off x="400050" y="2209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E71DE-B76F-4122-A91B-D00CF2D3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15BC1-1B96-411E-BD2E-0D079661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31492-2FC3-4208-9625-96EEB79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Profound-controlled bank account and payer receipts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>
            <a:off x="400050" y="3048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51B42-6664-433B-A0A9-F5E3D1B6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D7948-B784-4DF3-92BC-C3BFD2B6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E7EFB-DF78-4E39-A06A-253FEB90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Tyler claims, ERA, AR, payroll and vendor reporting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400050" y="3886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20BF8-4FAC-4A5C-9524-EACDE567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5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9AF9F-3EDD-4BEB-843B-0AF46993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Funding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DC39E-D69E-4397-9378-3AE469E1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Rev 5.20 reference: Month 1 operating expenses $32,898; Month 2 $36,448. Proposed $125,000 reserve recalculates monthly.</a:t>
            </a:r>
          </a:p>
        </p:txBody>
      </p:sp>
      <p:cxnSp>
        <p:nvCxnSpPr>
          <p:cNvPr id="92" name=""/>
          <p:cNvCxnSpPr/>
          <p:nvPr/>
        </p:nvCxnSpPr>
        <p:spPr>
          <a:xfrm xmlns:a="http://schemas.openxmlformats.org/drawingml/2006/main">
            <a:off x="400050" y="4724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2BFEA-2638-4CD9-84A5-5729C102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B5B17-31A0-4CF7-8B8F-7394841F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Recourse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28EE3-D8F6-4359-9C1D-1E4A57B6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Insurance, indemnity, beneficiary choice, claims runout and wind-down obligations</a:t>
            </a:r>
          </a:p>
        </p:txBody>
      </p:sp>
      <p:cxnSp>
        <p:nvCxnSpPr>
          <p:cNvPr id="96" name=""/>
          <p:cNvCxnSpPr/>
          <p:nvPr/>
        </p:nvCxnSpPr>
        <p:spPr>
          <a:xfrm xmlns:a="http://schemas.openxmlformats.org/drawingml/2006/main">
            <a:off x="400050" y="5562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0799680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C32F3-5ECF-4896-8F4E-CE8A82DB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BCB88-CEA1-4F80-A9C1-95E0A0FB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teams integrate around clear decision rights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5B289-DEBE-4485-9321-5F41D725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433D6-804B-4B8B-91AC-5511B116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3A34C-6858-442B-8075-5DE28E15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Tyler / Azalea leads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E4C5F-31DB-48EC-AA5E-0CA74A1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Local execution and census development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Recruiting and staffing recommendations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Scheduling and performance management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Marketing and referral-development activity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Tyler budget and operating reporting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Technology and vendor 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9D5AF-45FD-40A6-B4AE-918E5D8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71BDE-73E3-41EE-AEB6-A78DC943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Profound retains final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D2FD5-12E4-49A4-A37A-E216874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Patient acceptance and discharge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Eligibility, certification and plan of care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Clinical policies and QAPI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Provider enrollment, claims and refunds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Final clinical employment decisions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Stop-admission and compliance intervention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3F07A-600C-47CC-802F-9896DA19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368"/>
                </a:solidFill>
              </a:defRPr>
            </a:pPr>
            <a:r>
              <a:rPr sz="1275" b="1">
                <a:solidFill>
                  <a:srgbClr val="5F6368"/>
                </a:solidFill>
              </a:rPr>
              <a:t>Integration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CD76E-3C93-40F9-9A71-C3174148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2452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4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Introduce both teams, explain the shared model, and publish one escalation path before the first admission.</a:t>
            </a:r>
          </a:p>
        </p:txBody>
      </p:sp>
    </p:spTree>
    <p:extLst>
      <p:ext uri="{BB962C8B-B14F-4D97-AF65-F5344CB8AC3E}">
        <p14:creationId xmlns:p14="http://schemas.microsoft.com/office/powerpoint/2010/main" val="9196521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BFFD1-8D6C-45C3-AE9B-35F81519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2258E-7752-48A6-A8BE-14320264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Vendor choices should reduce risk—not create friction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B4E7E-FDE7-4331-8DA8-DBC379BB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85474-2065-476E-A9A8-A343AC16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9A8D3-E37F-41D0-ABF4-358A00F6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FireNote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CAB88-ABAA-4675-A484-78E86672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Azalea’s proposed Tyler EMR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Rationale: documentation consistency, clinician productivity and compliance visibility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Decision requires Profound control, administrator access, record export, claims workflow and security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07C13-299D-45E6-B3D3-0D9DC59E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730B8-6174-4D75-8E85-B314847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Hospice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AE8A8-4891-4E03-8897-E2BF7F8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Profound’s current EMR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Known operating environment for Profound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Published pricing starts at $85 per user/month; billing and clearinghouse services may be separate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Evaluate integration and total workflow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8487F-D94B-418E-9E18-F16AACAB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56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2845C-B246-4CC5-970E-783A4F5F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47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DME Express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4B75B-E58E-46B1-B771-A031F8CF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31051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Azalea’s current DME partner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Continuity reduces patient and caregiver disruption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 must approve a new agreement or valid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Confirm formulary, service levels, integration, pricing and invoicing</a:t>
            </a:r>
          </a:p>
        </p:txBody>
      </p:sp>
    </p:spTree>
    <p:extLst>
      <p:ext uri="{BB962C8B-B14F-4D97-AF65-F5344CB8AC3E}">
        <p14:creationId xmlns:p14="http://schemas.microsoft.com/office/powerpoint/2010/main" val="308538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E7D71-D94A-4485-9A36-ABF9063A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BEE24-D826-40C4-9407-4488415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 clinical working session can decide the EMR based on evidence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AEFBE-BC1B-4691-9486-FE56B793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19BED-E7A5-44D3-A257-0720C1A0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Participants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CCC5F-EB77-4D0E-BFDD-2890E4DD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Patrick  •  Patrick’s RN spouse  •  Profound clinical lead  •  Dana  •  Silas  •  FireNote implementation 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8121C-75E3-4426-BDE5-2A1B2B69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D9C39-B9BE-4426-891D-7D76AE0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BF50C-7DDF-4018-89B8-4B1474D6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Demonstrate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C2FC8-0F0E-4CDD-999D-54B1EFE4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Admission, care plan, IDG, orders, HOPE, supervisory visits and ADR 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1EFC3-0FF6-488B-8EC8-7ABA0F75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D85AA-EF03-406A-B238-CD693E1A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D077A-0EDF-49E8-8F85-31C090B0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Validate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C2F36-F10A-4790-ADE9-221DD94D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004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Profound administrator access, audit logs, policy alignment, record retention and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F7F7B-EED5-466E-B721-5F99A66F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9B233-C876-4F85-9504-8726D427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CB056-8050-4B81-862C-6B6990A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Validate billing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2FBCB-E9EE-4C5F-B5D4-316A4C6E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434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NPI/CCN configuration, NOE and claim workflow, clearinghouse, ERA and AR 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92C51-992F-492E-AE26-5AFD76E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4EA6A-DE83-4B28-9F7A-61C5DBB6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B3A25-EC4A-4995-AA69-8158CC76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3ED43-8464-4F67-B513-8892D5F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863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Approve FireNote, retain Hospice Tools, or define a controlled alternative</a:t>
            </a:r>
          </a:p>
        </p:txBody>
      </p:sp>
    </p:spTree>
    <p:extLst>
      <p:ext uri="{BB962C8B-B14F-4D97-AF65-F5344CB8AC3E}">
        <p14:creationId xmlns:p14="http://schemas.microsoft.com/office/powerpoint/2010/main" val="17737320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6C410-FC67-477A-8CA1-7AA32746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D6704-320A-4963-8FAB-BC4E43A1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Core clinical staff should sit on Profound payroll; Azalea funds the cost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D07EA-CF97-4F25-BD8C-2AD87E2C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288BA-F4DA-42B0-8E33-8FF99BA0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98DA5-310E-4FC0-AC37-EC142E1C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Recommended base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54520-BBEF-4DCE-99BA-B2AF4147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924425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Profound is W-2 employer for core clinical staff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Azalea prefunds wages, taxes and benefits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Tyler is a separate location and cost center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One authoritative payroll-tax filer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Gusto only if Profound’s payroll advisor validates the configuration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Azalea employs appropriate nonclinical staff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C8425-D80F-4614-BA57-A910EC4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DB89E-1D3C-4D6E-A1C3-68818125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Why this is cleaner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0C4CB-A877-47B8-972F-A35CDFBB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3149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Aligns employment with the certified provider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Preserves Profound’s supervision and policy authority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Avoids routine contracting of core services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Prevents duplicate quarterly payroll filings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Produces location-level payroll reporting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Keeps Azalea economically responsible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7CBE7-6742-4C80-B592-96B44BB0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Decision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1A072-5607-441D-AB6E-2F239B9C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78167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4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Authorize payroll and healthcare counsel to validate the employer, funding and filing mechanics immediately.</a:t>
            </a:r>
          </a:p>
        </p:txBody>
      </p:sp>
    </p:spTree>
    <p:extLst>
      <p:ext uri="{BB962C8B-B14F-4D97-AF65-F5344CB8AC3E}">
        <p14:creationId xmlns:p14="http://schemas.microsoft.com/office/powerpoint/2010/main" val="7413106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A6B5C-184D-4C50-B72E-C359408A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B03B0-10CF-49B6-B194-CD722B3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One bank account and one Tyler subledger keep cash controls clean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07EE6-3B92-4C5F-BF56-D0EA5DDF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12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253365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598170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9429750" y="2781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591B2-7B85-42A7-9227-2BFFF1BF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133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408B6-F111-489B-8F52-16FFE2D1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77CFD-5DFA-4DEE-BDF9-CC23F0E2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67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Deposit into Profound-controlled 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81F54-89CC-48A1-AF02-FF08952B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457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860E5-675D-46BB-A3CF-3F6D599A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Tyler subledger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41EF9-1156-430A-86C3-99A92EF5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0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Patient, claim, ERA, AR and cash attribution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F0D7A-2767-46B2-B0D6-262EEEE8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2457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4D600-6D38-4BB7-9B97-3FF0F021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Payment waterfall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00A2F-0F5F-4653-A627-63278C55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2000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Care + payroll → reserves → direct costs → fee → advances → true-up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4B787-EC96-49BD-9973-C09EC09F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095500"/>
            <a:ext cx="1371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B6014-B670-4360-8FF8-980AFC78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050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99FA4-E1C7-4DD1-AD31-2FA087F1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24150"/>
            <a:ext cx="914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Close within 10 business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20225-5FA1-48D2-92EF-AEE141ED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Minimum monthly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80DC0-A15B-43E1-8002-612ABBC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6096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Claims submitted, paid, denied and pending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ERA and cash receipts by patient and service month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Payroll, pharmacy, DME and other direct costs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Fee, reserve activity and working-capital balance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• Reconciliation, exceptions and agreed true-up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42D9B-C444-4CD7-9C25-E2096B71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Control principle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B41B2-4D3B-4D4A-A6D8-B05116A6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Profound controls payer cash. Azalea receives complete visibility and contractual reconciliation rights.</a:t>
            </a:r>
          </a:p>
        </p:txBody>
      </p:sp>
    </p:spTree>
    <p:extLst>
      <p:ext uri="{BB962C8B-B14F-4D97-AF65-F5344CB8AC3E}">
        <p14:creationId xmlns:p14="http://schemas.microsoft.com/office/powerpoint/2010/main" val="8742768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836C98-B0E1-4FA2-97DA-B861200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D079C-FB2E-4285-B930-462DC8DB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Billing readiness is a regulatory project—not a credential handoff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32FEC-8372-4E6B-8A04-C26E5879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8B00-A7AE-451E-97E9-2FD2CCE7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Proposed Tyler ADS location: 13387 North Highway 69, Tyler, Texas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220980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451485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681990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9124950" y="30861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71EFB-23D5-4BD0-B29C-D2271A5E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5B902-033E-4923-9A8C-196920B0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A4424-4C84-499D-BBF4-F1A691B0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Confirm eligibility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F6D1C-F57E-4CB8-8E7D-E447BBAE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Service area, location, license status, accreditation and MAC pathway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2887E-34B6-4038-8547-96FFB35B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935A8-29BB-490D-A447-53C3F63E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7D79F-09E7-4E08-9D33-1247A527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Texas TULIP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BE4E2-8D81-4E9D-AB13-1376D27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Secure HHSC ADS approval, parent-license link and service-area confirmation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D2F29-4B8A-450A-877B-F4CFDCF0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17381-3446-4E83-A19E-74768632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B7400-2785-4F7E-A30E-E2CB3364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PECOS / 855A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70721-B549-4C56-B701-354A0055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Add Tyler location; obtain MAC/CMS approval and the effective 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ED26A-651B-464D-AA5B-4FDA6CC0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6A872-D551-48FF-9564-C036F0C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A09B2-025D-425C-8A34-5E913DCA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Approval + build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9A473-556C-4A1C-9BCF-1903FB1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Close survey/AO, payer, staffing, EMR, claims, payroll, vendor and testing gates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AD9ED-2DC8-4615-9A88-D19BBF8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809750" cy="2286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F33D00-9D46-4B4B-A118-51683FFA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0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C1750-1095-434C-94EA-5C7AAA40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First admission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F806E-4444-4A0F-BEFE-66D98AFA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575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Only after approvals are effective and Profound signs the readiness certificate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88784-C2A1-4301-8910-DF6334D5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August 31 is an aggressive target. Submission is not approval; the ADS launches only after every required effective date and written go/no-go condition is satisfied.</a:t>
            </a:r>
          </a:p>
        </p:txBody>
      </p:sp>
    </p:spTree>
    <p:extLst>
      <p:ext uri="{BB962C8B-B14F-4D97-AF65-F5344CB8AC3E}">
        <p14:creationId xmlns:p14="http://schemas.microsoft.com/office/powerpoint/2010/main" val="11658454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4BF795-84B7-4040-AE86-B1799A47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1AB8-F58D-4409-9FE4-A02539C0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RACI keeps Profound accountable without making Patrick do everything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D344C-C389-435A-B0E4-F4B88A7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1BC63-8CE6-4411-8FB4-18686B84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Workstream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6A000-C482-42DA-8FB7-9652C074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Patrick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913E4-9939-4969-A92C-BD2BBCD4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Profound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78709-7C69-4C42-A34A-D4D2C79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Geoff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75AEA-4576-4A10-BE94-60B5CF4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954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Silas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20D44-6E8A-4AE9-9E01-C4AB9C76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954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Advisor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B7E56-68D1-4020-BE79-C60B614F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746C-8E6F-4670-A2EB-4B21C804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Commercial framework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ACD7D-6A28-4BCB-A8B8-F59C4925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8EA1A-32BA-42B6-925E-1F1EC777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AA1D1-C612-4E7D-AF2F-0EF23B05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01AD1-38A8-44E8-8AFD-B4333E2F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084FC-3BBE-4EBF-BF09-FEC78FC9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193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8CA3C-6611-4BAB-B2DF-E73C58EC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C2A60-E87A-4ACD-B022-63F68A11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TULIP / PECOS / CMS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B8DB2-CD12-4796-9B67-ADB3E4FE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AE0C2-7D03-47EF-949C-1D2A8CAA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C27EE-19F1-4939-B7F2-A63DF66B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7B74A-D5B8-4F6C-B84C-E2F9154A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45C48-C108-482E-B1C5-2329D819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717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256D9-85EC-41CE-891F-0C61D34A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E63F0-FF84-49C1-8E4D-659FBE2F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Clinical policy + QAPI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649434-C21C-443C-AD63-03DC9EDE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3A179-68B6-4D8D-B355-02BD1DE4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72A45B-EC4C-4D7B-9960-4A959B68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8EFE4-5189-4E01-95D2-11D354F6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24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F4FBB-67DC-4131-9BFA-0AA5C10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1242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890359-8DD3-46F6-9E47-45B41D11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918FDB-CA4A-4F04-8F5B-F960654A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Staffing + payroll build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831F01-2273-4390-B3EC-3C79E88E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DB54A3-85B5-4159-841E-11C2D315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D94B2B-0EF4-4876-B1E4-483C1620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CEAC58-0BB5-4B86-BBC7-F4C5D5BB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ECA901-EBF4-4451-902F-AE6B18DA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6766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809386-99F9-4D50-9EF7-FE253691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42B809-999C-4276-8893-BDAF6E40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29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EMR + billing readiness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A4E85C-A7D9-4DCD-B727-FCBF695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BD0DEE-1E61-4350-AADF-073B02A3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8483EC-B1E2-4B7D-857F-D4B61B0B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C72D06-D023-4FF3-A499-BDECB1C8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291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648596-47B9-4791-8B48-DE7C804E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2291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60F389-A93E-4A0C-8EB1-456587A4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E275AD-6339-4DDE-859F-FDAAE313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Finance + reconciliation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518532-5A04-4413-A616-B8ECD01A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F02706-27DF-42D1-BD2D-9D985BB1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692C1B-7FA7-4188-80A8-F004F21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C12024-91DA-408A-9502-6A188236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81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23EFEF-CD66-4335-855F-45FF32E5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7815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4E9456-B787-423A-B78F-50927B3D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29225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130991-3C0F-4CD5-937B-5718FE6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First-admission readiness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D75298-ACD7-49C4-A49A-39C4E5B7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287840-61BD-49BD-A07C-2F647F05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BB23D6-EBC2-4DCE-86C3-1113F67F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E0E2FB-D361-4C14-9F47-D7ABC31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0DD1F6-3208-4CF1-82D8-19AB04D1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4D9EAB-9809-4C8F-9EBF-F17D99F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A = accountable  |  R = responsible  |  C = consulted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10C06D-8C7F-40BB-9CBF-1B252619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150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Names replace placeholders after Patrick maps his team.</a:t>
            </a:r>
          </a:p>
        </p:txBody>
      </p:sp>
    </p:spTree>
    <p:extLst>
      <p:ext uri="{BB962C8B-B14F-4D97-AF65-F5344CB8AC3E}">
        <p14:creationId xmlns:p14="http://schemas.microsoft.com/office/powerpoint/2010/main" val="14511153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70E2E-8FD3-4536-9894-45D1C59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2A7E5-8D16-4BDB-B34A-278846DC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document package separates today’s framework from binding obligations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E3804-45B0-44EF-9DBD-2FCF249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C89B-C395-45DB-82C2-FD7620DB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8CD3B-A93A-46F9-8F0B-6D8B3F71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81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Term sheet + implementation letter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5A2E4-9491-4A8B-809E-D08EE286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Non-binding business framework; any payment or implementation obligation expressly binding or placed in a short letter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2324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8E6F8-1E82-40B0-8EAB-2B3EED4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43627-C8A3-402B-84B7-CAB9188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Counsel memorandum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3DE49-002C-464C-A3DF-6318AEE1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Structure, guardrails, open legal questions and definitive-document architecture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3352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F91D4-E348-468D-B923-AE271A07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D440C-246B-4707-A6CB-DBD8A9C2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Financial-advisor memorandum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77C87-CE0C-4D45-8D3D-4BAF118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Funding, cash controls, payroll, reporting, reserves and open assumptions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400050" y="4381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D1C58-317B-483C-BF87-6BC12836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E3BA1-4691-45B3-BC5E-02CE589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Definitive agreement suite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38489-1B4C-46CA-9EA0-7140FE8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Management, funding, reimbursement, employment, data, vendors, indemnity and transition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400050" y="5410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1D88B-47F8-4C66-A421-2165B636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Patrick and Geoff align on the working drafts before distribution. Advisors redline within agreed response windows and preserve the agreed commercial intent.</a:t>
            </a:r>
          </a:p>
        </p:txBody>
      </p:sp>
    </p:spTree>
    <p:extLst>
      <p:ext uri="{BB962C8B-B14F-4D97-AF65-F5344CB8AC3E}">
        <p14:creationId xmlns:p14="http://schemas.microsoft.com/office/powerpoint/2010/main" val="9969127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13D41-384B-44FC-8702-8035DA4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543B-5A86-4489-9F06-ED9A150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Leave Monday with a signed framework, six decisions and named owners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C5DF-14F0-4BC9-AAAB-61DC588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A1096-8B0C-4BBE-9E97-52B45C6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73A9-2C37-41EE-9801-DC5B6AC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52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5B2B-B6AA-4B0A-B34D-F675AC0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Confirm the $7,500 fee, direct-cost rules, 12-month term and mutual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3212-3F84-4774-9B7D-D8CEB07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0FA5-227F-456A-8F66-E4884C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764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6AF5-6D66-4DEA-8AD8-FB243D6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Set Patrick’s cash-versus-note election deadline at August 24,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08995-0829-40DF-9AB3-83A9EE8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B069-6380-468A-9964-F091C9E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624F6-8E84-47D0-B898-1CF7CE1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Agree on the binding instrument for the September 1 implementation payment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E4DD6-19ED-4E83-B715-DBD2F8D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D84E2-8D3B-4E6D-B9CE-37AD2E6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B8B2-687D-45B2-82FA-3A37EF3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Set the $125,000 opening reserve and monthly replenishment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4DBB5-8763-4161-AABE-8A57F51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470E-21E8-4315-8B00-18214F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48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7ACE9-510D-498D-9C91-8454E66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Confirm Patrick signs for Profound’s entity and Geoff for Tyler Hospice Hold, LLC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EE7F2-190E-4432-8698-8DB3539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C144-6E31-4C4B-8EC8-D360AD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72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FDF18-BED8-42C4-BF06-B8AB1CF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Finalize and sign the non-binding framework before the meeting adjourns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6EE8A-0B1F-4398-84E1-775A3466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25C3E-92EE-4205-941B-370E8FD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Framework target: August 10. Firm outside decision date: August 24, 2026. Launch remains subject to written approval and readiness evidence.</a:t>
            </a:r>
          </a:p>
        </p:txBody>
      </p:sp>
    </p:spTree>
    <p:extLst>
      <p:ext uri="{BB962C8B-B14F-4D97-AF65-F5344CB8AC3E}">
        <p14:creationId xmlns:p14="http://schemas.microsoft.com/office/powerpoint/2010/main" val="133908872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13D41-384B-44FC-8702-8035DA4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543B-5A86-4489-9F06-ED9A150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Record the agreement before the meeting ends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C5DF-14F0-4BC9-AAAB-61DC588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A1096-8B0C-4BBE-9E97-52B45C6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73A9-2C37-41EE-9801-DC5B6AC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52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5B2B-B6AA-4B0A-B34D-F675AC0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Signatories  |  Patrick / Profound entity; Geoff / Tyler Hospice Hold, LLC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3212-3F84-4774-9B7D-D8CEB07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0FA5-227F-456A-8F66-E4884C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764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6AF5-6D66-4DEA-8AD8-FB243D6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Transition option  |  Cash / Note; decision due August 24,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08995-0829-40DF-9AB3-83A9EE8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B069-6380-468A-9964-F091C9E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624F6-8E84-47D0-B898-1CF7CE1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Payment instrument  |  Binding provision / Short letter: 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E4DD6-19ED-4E83-B715-DBD2F8D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D84E2-8D3B-4E6D-B9CE-37AD2E6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B8B2-687D-45B2-82FA-3A37EF3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Opening reserve  |  $125,000; monthly recalculation + replenishment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4DBB5-8763-4161-AABE-8A57F51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470E-21E8-4315-8B00-18214F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48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7ACE9-510D-498D-9C91-8454E66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EMR + DME path  |  Owner and due date: __________________________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EE7F2-190E-4432-8698-8DB3539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C144-6E31-4C4B-8EC8-D360AD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72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FDF18-BED8-42C4-BF06-B8AB1CF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Launch authority  |  Owner, evidence and go/no-go signer: __________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6EE8A-0B1F-4398-84E1-775A3466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Meeting close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25C3E-92EE-4205-941B-370E8FD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Sign August 10 if aligned; otherwise record remaining issues and reach a firm go/no-go decision no later than August 24.</a:t>
            </a:r>
          </a:p>
        </p:txBody>
      </p:sp>
    </p:spTree>
    <p:extLst>
      <p:ext uri="{BB962C8B-B14F-4D97-AF65-F5344CB8AC3E}">
        <p14:creationId xmlns:p14="http://schemas.microsoft.com/office/powerpoint/2010/main" val="133908872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13D41-384B-44FC-8702-8035DA4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543B-5A86-4489-9F06-ED9A150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Convert the signed framework into work during the first 10 business days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C5DF-14F0-4BC9-AAAB-61DC588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A1096-8B0C-4BBE-9E97-52B45C6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73A9-2C37-41EE-9801-DC5B6AC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52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5B2B-B6AA-4B0A-B34D-F675AC0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Before August 11: Patrick sends the memos or names the Profound adviser-routing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3212-3F84-4774-9B7D-D8CEB07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0FA5-227F-456A-8F66-E4884C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764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6AF5-6D66-4DEA-8AD8-FB243D6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Profound-selected counsel confirms structure, payment instrument and enrollment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08995-0829-40DF-9AB3-83A9EE8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B069-6380-468A-9964-F091C9E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624F6-8E84-47D0-B898-1CF7CE1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Financial advisor confirms $125,000 reserve, payroll, reconciliation and FMV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E4DD6-19ED-4E83-B715-DBD2F8D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D84E2-8D3B-4E6D-B9CE-37AD2E6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24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B8B2-687D-45B2-82FA-3A37EF3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Profound opens TULIP, PECOS/MAC and accreditation workstreams  |  Owner/date: 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4DBB5-8763-4161-AABE-8A57F51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470E-21E8-4315-8B00-18214F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48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7ACE9-510D-498D-9C91-8454E66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Teams complete EMR, DME, billing, payroll, insurance and staffing diligence  |  Due: 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EE7F2-190E-4432-8698-8DB3539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C144-6E31-4C4B-8EC8-D360ADA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72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FDF18-BED8-42C4-BF06-B8AB1CF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August 24: firm final decision and signed framework if not completed August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6EE8A-0B1F-4398-84E1-775A3466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9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Launch discipline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25C3E-92EE-4205-941B-370E8FD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No first admission until Profound signs the readiness certificate and every required approval is effective.</a:t>
            </a:r>
          </a:p>
        </p:txBody>
      </p:sp>
    </p:spTree>
    <p:extLst>
      <p:ext uri="{BB962C8B-B14F-4D97-AF65-F5344CB8AC3E}">
        <p14:creationId xmlns:p14="http://schemas.microsoft.com/office/powerpoint/2010/main" val="133908872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70E2E-8FD3-4536-9894-45D1C59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PROFOUND × AZALEA | TYLER 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2A7E5-8D16-4BDB-B34A-278846DC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Set response dates so advisor review does not stall implementation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E3804-45B0-44EF-9DBD-2FCF249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C89B-C395-45DB-82C2-FD7620DB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8CD3B-A93A-46F9-8F0B-6D8B3F71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81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Counsel memorandum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5A2E4-9491-4A8B-809E-D08EE286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Profound counsel: TBD  |  Patrick designates  |  Redline due August 24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2324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8E6F8-1E82-40B0-8EAB-2B3EED4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43627-C8A3-402B-84B7-CAB9188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Financial-advisor memorandum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3DE49-002C-464C-A3DF-6318AEE1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Patrick’s financial advisor  |  Name TBD  |  Response due August 24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3352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F91D4-E348-468D-B923-AE271A07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D440C-246B-4707-A6CB-DBD8A9C2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Term sheet + implementation letter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77C87-CE0C-4D45-8D3D-4BAF118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Owners: Geoff + Patrick  |  Target August 10  |  Outside date August 24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400050" y="4381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D1C58-317B-483C-BF87-6BC12836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E3BA1-4691-45B3-BC5E-02CE589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Definitive agreement suite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38489-1B4C-46CA-9EA0-7140FE8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Profound counsel: TBD  |  Azalea counsel: not retained  |  Engage if required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400050" y="5410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1D88B-47F8-4C66-A421-2165B636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Open legal or financial issues go into one decision log; they do not silently change the agreed commercial intent.</a:t>
            </a:r>
          </a:p>
        </p:txBody>
      </p:sp>
    </p:spTree>
    <p:extLst>
      <p:ext uri="{BB962C8B-B14F-4D97-AF65-F5344CB8AC3E}">
        <p14:creationId xmlns:p14="http://schemas.microsoft.com/office/powerpoint/2010/main" val="9969127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212E8-C8E6-46A7-81E6-26D44180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A83F6-8210-4F21-BCFF-AA192469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Working materials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for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1A8DB-13F7-461E-8DD7-6EC7EA58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Detailed launch checklist  •  Expanded RACI  •  Vendor diligence  •  Calendar</a:t>
            </a:r>
          </a:p>
        </p:txBody>
      </p:sp>
    </p:spTree>
    <p:extLst>
      <p:ext uri="{BB962C8B-B14F-4D97-AF65-F5344CB8AC3E}">
        <p14:creationId xmlns:p14="http://schemas.microsoft.com/office/powerpoint/2010/main" val="164372616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C36205-8A87-425A-8A47-1EB2A43D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8DE09-1905-473A-877F-200C6A74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A — Regulatory and operating launch checklist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A850E-90BA-452C-8A22-450F4112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99C20-2EC7-4E26-912E-4241914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Provider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0DBAF-3839-4513-A2E6-F4DCC70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4668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License, service area, CCN/NPI, MAC, accreditation, current enrollment data</a:t>
            </a:r>
          </a:p>
        </p:txBody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400050" y="22955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DE88F-DB64-4E04-A5DF-2BDC5AA9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Texas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65B88-17C1-4B75-97AB-FEFF063A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003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TULIP access, ADS application, location, leadership, policies and supporting documents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400050" y="342900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75934-906B-4DD7-8203-D3A1354C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Medicare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6C918-3BE5-489F-A933-35DB70B7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PECOS/CMS-855A location addition, required disclosures, MAC/state/AO coordination</a:t>
            </a:r>
          </a:p>
        </p:txBody>
      </p:sp>
      <p:cxnSp>
        <p:nvCxnSpPr>
          <p:cNvPr id="97" name=""/>
          <p:cNvCxnSpPr/>
          <p:nvPr/>
        </p:nvCxnSpPr>
        <p:spPr>
          <a:xfrm xmlns:a="http://schemas.openxmlformats.org/drawingml/2006/main">
            <a:off x="400050" y="45624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6F421-3AA4-4675-98D1-15CC4CC1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67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Clinical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18599-2FBE-4CF4-BF69-1BD8B4BD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672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Staffing, policies, QAPI, IDG, medical director, 24/7 coverage and competencies</a:t>
            </a:r>
          </a:p>
        </p:txBody>
      </p:sp>
      <p:cxnSp>
        <p:nvCxnSpPr>
          <p:cNvPr id="100" name=""/>
          <p:cNvCxnSpPr/>
          <p:nvPr/>
        </p:nvCxnSpPr>
        <p:spPr>
          <a:xfrm xmlns:a="http://schemas.openxmlformats.org/drawingml/2006/main">
            <a:off x="400050" y="569595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6607F-2882-4586-992D-BED28B3D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Systems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7C802-C866-4585-BD3D-ABF6ED8F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EMR control, billing configuration, clearinghouse, DDE, records and cybersecurity</a:t>
            </a:r>
          </a:p>
        </p:txBody>
      </p:sp>
      <p:cxnSp>
        <p:nvCxnSpPr>
          <p:cNvPr id="103" name=""/>
          <p:cNvCxnSpPr/>
          <p:nvPr/>
        </p:nvCxnSpPr>
        <p:spPr>
          <a:xfrm xmlns:a="http://schemas.openxmlformats.org/drawingml/2006/main">
            <a:off x="6191250" y="22955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A0470-FD7C-48D6-8112-463B6A43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0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Vendors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E21C2-5C2A-43DF-A84A-0E4C061B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03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DME, pharmacy, supplies, lab, facilities, insurance and service-level agreements</a:t>
            </a:r>
          </a:p>
        </p:txBody>
      </p:sp>
      <p:cxnSp>
        <p:nvCxnSpPr>
          <p:cNvPr id="106" name=""/>
          <p:cNvCxnSpPr/>
          <p:nvPr/>
        </p:nvCxnSpPr>
        <p:spPr>
          <a:xfrm xmlns:a="http://schemas.openxmlformats.org/drawingml/2006/main">
            <a:off x="6191250" y="342900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BD804-0CE4-4F9C-BF70-599A0A19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Finance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92C03-EA37-4CF0-9DCB-B9906791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Banking, subledger, payroll, reserves, reconciliation and monthly close</a:t>
            </a:r>
          </a:p>
        </p:txBody>
      </p:sp>
      <p:cxnSp>
        <p:nvCxnSpPr>
          <p:cNvPr id="109" name=""/>
          <p:cNvCxnSpPr/>
          <p:nvPr/>
        </p:nvCxnSpPr>
        <p:spPr>
          <a:xfrm xmlns:a="http://schemas.openxmlformats.org/drawingml/2006/main">
            <a:off x="6191250" y="45624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73360-BBD5-4366-B14E-5195B01E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67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Launch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E5809-52DE-4972-9C14-6EF57D47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672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Written approvals, testing, orientation, mock admission and signed readiness certificate</a:t>
            </a:r>
          </a:p>
        </p:txBody>
      </p:sp>
      <p:cxnSp>
        <p:nvCxnSpPr>
          <p:cNvPr id="112" name=""/>
          <p:cNvCxnSpPr/>
          <p:nvPr/>
        </p:nvCxnSpPr>
        <p:spPr>
          <a:xfrm xmlns:a="http://schemas.openxmlformats.org/drawingml/2006/main">
            <a:off x="6191250" y="569595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41835121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F743F3-488F-4511-8FF1-3BD228EC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0A6A4-7C43-42DD-9A84-FAA80531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B — Detailed RACI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24D4D-CFC4-4E28-AA01-BBC6E498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DF5EF-A9BB-40B3-BB1B-CD3A33A4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Workstream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4D56F-43CC-4E13-A8BB-429A70AB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Profound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BB39B-CE60-49B4-A04E-09E1A47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Azalea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48405-E263-410C-8831-DEB65658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Tyler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B6CF4-C327-4ADE-8BC8-FCE3530C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28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Advisor / vendor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6D326-EF05-4E03-BBFB-49E45E87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728CA-EB82-421B-A588-8FF5B980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Commercial + documents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81F1A-A86A-4041-8553-C3625FB0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FC223-08A1-429D-B889-F29A6A8F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D148C-8297-4414-BBED-BAE2D3B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A97FD-6148-4781-97FC-4A603B3B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85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1BD52-8FB3-46B8-BA57-181BFC9F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8C2C1-51BB-438B-9C07-FC24F65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TULIP + state license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47A3B-9EC2-4A8F-A8F5-D8A5A924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A/R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30052-51BA-45E4-8DD6-CAE1956C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F0169-182D-4873-85D4-02020939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83A02-5299-4F24-BBBD-7879955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D9699-8F9A-4581-87FC-D5159A88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56F18-DC5D-444D-8E39-E8D15DD5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PECOS / 855A + MAC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7EDFF-3052-4D4F-9FFF-FFA36D68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A/R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C7C0A-7B8D-42BA-ABB1-D099FCBC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39B0E-6E69-48B9-903D-BD1F3744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C1771-5F83-4896-97D5-A7C345BD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60B06-A7F0-455A-AB79-1445A8AF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BDF5F-5A67-49B9-B356-7BF563A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2897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Clinical policies + QAPI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2C13DB-D58C-45C3-9DFD-84BC21E1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6DF581-29AF-4CFA-BD85-BD122D4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B7FB1-C9D6-4422-9F1F-3B05C69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289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DDB9F-AE6B-467E-A24A-7A9EFEB1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28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210D5-E35E-4D89-8735-165FBCAF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46ED5F-B512-4AA3-BFFC-D3278210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Staff employment + payroll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87C635-D8AD-4F65-BFD5-4271ADE6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475E18-6A0D-46EB-B618-B02F869E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EE7665-F878-480C-BCD3-709D12DF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92A4E7-D9A4-4FEE-861D-DD14CEBD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76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57B1F7-F16C-4999-BE8B-F4A64326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F3FE40-0CBF-4EBD-82BD-6A779F84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243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FireNote / EMR decision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083FDE-6722-4E01-A180-B4C1C9B0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076255-4E41-48FC-BD46-90AF6DDB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07DAA0-1865-43D4-AB9A-013C2CC6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ED271E-2E44-4A6F-9340-A6430765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24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FECA29-617C-4166-BA8C-FA9BED62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14FC61-7CCE-44F5-8483-DFEF0E7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DME + other vendors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1FDA56-7794-4697-92D2-BAF76E8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3DD26A-DB4A-45F1-AE9F-2084DAEE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47D2EC-E5DE-4CDC-84E2-47555CBA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948E25-4702-420F-BDE2-A08188FB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7DDA4A-1B29-4D60-9D6A-6EB9DF15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82D85F-8A23-4F69-9841-CC0CD08C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967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Billing + cash + close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D8ABE6-DCC1-4771-8252-F026BAE8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D2B6E7-230F-4209-B43E-445284A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E8AB29-CD01-47EC-8320-A61C45F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9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956AFE-2ADF-47EB-9068-B7C7F308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4C56F3-FD43-4093-8A69-A036384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21B55B-1BDD-4B9A-80C7-6B6F99A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Training + mock admission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7B7E32-3A5C-4191-A1CE-6E64EAFB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C6B950-7E59-4D38-B36E-481B75EF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A24A3D-5AA4-4344-81BB-C72D5DFD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8DB198-CC45-40B8-A59A-7063698F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67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1E3C66-6031-416D-AC9C-5F6D285E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Replace role-level placeholders with names, due dates and evidence of completion during the meeting.</a:t>
            </a:r>
          </a:p>
        </p:txBody>
      </p:sp>
    </p:spTree>
    <p:extLst>
      <p:ext uri="{BB962C8B-B14F-4D97-AF65-F5344CB8AC3E}">
        <p14:creationId xmlns:p14="http://schemas.microsoft.com/office/powerpoint/2010/main" val="188342299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F8F2D-77C7-4915-8CB1-F7FBB684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09ED4-3359-4C98-A1FC-CD660DB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C — Vendor approval gates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90404-A19B-4CA6-9438-555CF7E4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ABA36-2D94-4ACF-8F87-D468F3CA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973EB-71B5-495B-91FB-DB926C2E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EMR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69AE4-3F09-40F8-86CC-FB9C0A34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 administrator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Complete authoritative record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Audit trail and authentication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Export and six-year retention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HIPAA / BAA / security review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HOPE, QAPI and supervisory workflows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Claims, ERA and AR configuration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Training and support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5E372-42A6-47D5-9A09-9F085FB7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12A2F-C371-48A7-AF0B-25A33612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238EA-94A0-44B0-8BAA-5562FABE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Profound-approved agreement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Service-area coverage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24/7 service and escalation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Formulary and authorization rules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Pricing and invoice detail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EMR integration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Patient transition protocol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Retrieval and equipment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3A4F5-D960-4F3B-8357-55B75E8D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685B0-725F-44E9-862D-E33F65A6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Payroll + billing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65D44-DE38-45DB-B423-532E764E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3105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One quarterly tax filer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Profound employer setup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Tyler department / cost center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Azalea prefunding mechanics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Claims credentials and clearinghouse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DDE / eligibility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Patient-level cash attribution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□ Monthly reconciliation calendar</a:t>
            </a:r>
          </a:p>
        </p:txBody>
      </p:sp>
    </p:spTree>
    <p:extLst>
      <p:ext uri="{BB962C8B-B14F-4D97-AF65-F5344CB8AC3E}">
        <p14:creationId xmlns:p14="http://schemas.microsoft.com/office/powerpoint/2010/main" val="81014724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4EE099-E5CA-42F7-90C8-5D6B1C64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WORKING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AF47A-8990-4D96-9FB6-3AE7AEAF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Appendix D — Implementation calendar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EBC15-42C9-4064-85BE-1AD3E0BD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3F3C1-E1F8-4DE5-9FC5-9AAFA710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B45D-7B6D-459F-A123-A2CE4407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87B5D-AEA3-47C4-A0B2-3DAC0B3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C715A-3F51-4AB2-8DC8-8669CC36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11–14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86339-7DA1-492B-9C34-CA852DF6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9D2C9-8775-44CC-B11E-AF5B1C66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17–21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3426F-6271-4FAC-ABAE-71FA1FFA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DA3AD-CBAE-4BEE-B542-5405CDF5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24–28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AB688-7923-4DF7-B496-B9324683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DD17E-D513-4D8B-B20C-80E25B16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Aug 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8B6E0-53B1-4109-9AC6-A4A7D415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571625"/>
            <a:ext cx="1895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5E788-FC72-4B34-BC57-B68639C6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859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Sep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5FA0F-CE43-42B2-9DA2-F7E1B5B2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5050"/>
            <a:ext cx="17430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52E15-49B5-449E-A6A5-C4FFFE68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90775"/>
            <a:ext cx="1514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Framework + owners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2844E-4385-48D6-8148-178FC9E0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3F192-36B6-446D-850A-9FB7CFCF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Counsel / advisor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8B7CD-8B47-46D7-8733-4E153D0A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33750"/>
            <a:ext cx="55340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6B3DC-A73D-456D-8292-8C4CAB96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19475"/>
            <a:ext cx="530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TULIP + PECOS / CMS pathway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85F71-1791-4EB3-82C4-DD55041F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481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C329B-25E9-4560-8A05-2F799F7A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338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Payroll, EMR + vendor setup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30A74-7D5D-438F-9945-DBA951BD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6245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5FD23-5C7A-4C92-ADC1-B0BBBE3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4817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Policies, training + testing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DF52E-0CA5-4392-83DC-0F5AAB9C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76800"/>
            <a:ext cx="3638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5B0E0-65D0-4AE8-B7C8-ED3D6387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6252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Readiness gate + first admission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30488D-B188-4B14-AD0D-D06151B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91150"/>
            <a:ext cx="17430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3C0A0-9E1F-484F-8087-9C7654BF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76875"/>
            <a:ext cx="1514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$7,500 implementation payment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B35627-8660-47AA-ACBC-D68F17D1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The sequence is directional until Profound’s licensing specialist, MAC, accreditation organization and counsel confirm the actual approval path.</a:t>
            </a:r>
          </a:p>
        </p:txBody>
      </p:sp>
    </p:spTree>
    <p:extLst>
      <p:ext uri="{BB962C8B-B14F-4D97-AF65-F5344CB8AC3E}">
        <p14:creationId xmlns:p14="http://schemas.microsoft.com/office/powerpoint/2010/main" val="97648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2026-08-07T21:42:58.8800000Z</dcterms:created>
  <dcterms:modified xsi:type="dcterms:W3CDTF">2026-08-07T21:42:58.8800000Z</dcterms:modified>
</coreProperties>
</file>