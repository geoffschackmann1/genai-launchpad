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AZALEA HOSPICE &amp; PALLIATIVE CARE</a:t>
            </a:r>
          </a:p>
          <a:p>
            <a:r>
              <a:rPr sz="2200"/>
              <a:t>Private Note Offering - $500,000  |  Tyler, Texas</a:t>
            </a:r>
          </a:p>
          <a:p>
            <a:r>
              <a:rPr sz="1200" i="1"/>
              <a:t>Confidential. For discussion with invited accredited investors only. Not an offer to sell securities.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Why hospice, why Tyler,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East Texas is one of the oldest regions in one of the fastest-aging states - hospice demand grows every year regardless of the economy.</a:t>
            </a:r>
          </a:p>
          <a:p>
            <a:pPr>
              <a:spcAft>
                <a:spcPts val="1000"/>
              </a:spcAft>
            </a:pPr>
            <a:r>
              <a:rPr sz="1700"/>
              <a:t>Texas is effectively not issuing new Medicaid hospice contracts, and CMS froze ALL new hospice Medicare enrollments nationwide in May 2026 (Texas named specifically).</a:t>
            </a:r>
          </a:p>
          <a:p>
            <a:pPr>
              <a:spcAft>
                <a:spcPts val="1000"/>
              </a:spcAft>
            </a:pPr>
            <a:r>
              <a:rPr sz="1700"/>
              <a:t>That means nobody can create what we already control: an active, ready-to-bill Medicare + Medicaid hospice license.</a:t>
            </a:r>
          </a:p>
          <a:p>
            <a:pPr>
              <a:spcAft>
                <a:spcPts val="1000"/>
              </a:spcAft>
            </a:pPr>
            <a:r>
              <a:rPr sz="1700"/>
              <a:t>We are not building a startup from a piece of paper - we are turning on a proven license with a proven team and a built-in patient census.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asset: a license you cannot replicate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Medicare + Medicaid certified hospice provider number - proven, active, billable from day one.</a:t>
            </a:r>
          </a:p>
          <a:p>
            <a:pPr>
              <a:spcAft>
                <a:spcPts val="1000"/>
              </a:spcAft>
            </a:pPr>
            <a:r>
              <a:rPr sz="1700"/>
              <a:t>Medicaid certification lets us serve nursing-facility patients (room &amp; board billing) - faster census growth and better margins than Medicare-only competitors.</a:t>
            </a:r>
          </a:p>
          <a:p>
            <a:pPr>
              <a:spcAft>
                <a:spcPts val="1000"/>
              </a:spcAft>
            </a:pPr>
            <a:r>
              <a:rPr sz="1700"/>
              <a:t>Comparable licenses: Medicare-only shells list at $225-350K; the only two Medicare+Medicaid licenses on the market listed at ~$400K - and supply is shrinking under the federal freeze.</a:t>
            </a:r>
          </a:p>
          <a:p>
            <a:pPr>
              <a:spcAft>
                <a:spcPts val="1000"/>
              </a:spcAft>
            </a:pPr>
            <a:r>
              <a:rPr sz="1700"/>
              <a:t>Purchase is fully financed (bank term loan, 6%, 3 years) - this raise is NOT buying the license; it funds growth and working capital.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Proven team, built-in census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Founder Geoff Schackmann: multi-hospice operator, 10+ years building and running East Texas hospice and home-care businesses.</a:t>
            </a:r>
          </a:p>
          <a:p>
            <a:pPr>
              <a:spcAft>
                <a:spcPts val="1000"/>
              </a:spcAft>
            </a:pPr>
            <a:r>
              <a:rPr sz="1700"/>
              <a:t>Full leadership team in seat from day one: Executive Director, Director of Nursing, Director of Sales, ADON/Intake - all with Tyler-market experience and equity in the company.</a:t>
            </a:r>
          </a:p>
          <a:p>
            <a:pPr>
              <a:spcAft>
                <a:spcPts val="1000"/>
              </a:spcAft>
            </a:pPr>
            <a:r>
              <a:rPr sz="1700"/>
              <a:t>A migrated patient panel and referral network from the team's prior operation - census plan: 24 patients by month 2, 34 by month 6, 40 by month 12.</a:t>
            </a:r>
          </a:p>
          <a:p>
            <a:pPr>
              <a:spcAft>
                <a:spcPts val="1000"/>
              </a:spcAft>
            </a:pPr>
            <a:r>
              <a:rPr sz="1700"/>
              <a:t>Anchor investor James E. Bullard has committed $195,000; founder capital brings committed equity to $250,000.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economics, per patient-day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/>
              <a:t>Medicare pays a fixed per-diem for every enrolled patient, every day.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74519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Net revenue per patient-day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~$172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Direct cost per patient-day (staff + meds + equipment)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~$75-80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Contribution per patient-day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~$92-97 (55%+ margin)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Monthly net revenue at 40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~$205,000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EBITDA margin at month-12 run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22.3%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/>
              <a:t>Source: company operating model, CMS FY2026 Smith County rates, validated against prior-operation actuals.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Three-year financial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344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Year 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Net patient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$1.93M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$2.90M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$3.48M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EBITDA (pre-debt-service)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$263K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$680K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$976K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EBITDA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13.6% (ramp)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28.0%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Patient census (end of 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/>
              <a:t>Year 1 margin reflects the startup ramp; month-12 run rate is 22.3%. Full model (36-month, monthly) available in diligence.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offering: $500,000 in promissory notes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34440"/>
          <a:ext cx="9144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Detail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$500,000 total (minimum investment $50,000)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10% per year, paid quarterly in cash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 years; principal balloon at maturity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Prepayment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Company may prepay anytime without penalty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Note obligations of the company; subordinate to the bank acquisition loan (disclosed in note documents)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Investor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Simple 1099-INT interest income - no K-1s, no ownership complexity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/>
              <a:t>Private placement to accredited investors under Reg D. Definitive documents prepared by securities counsel.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Total capitalization: $250K committed equity + $500K notes + $500K bank license financing = $1.25M project.</a:t>
            </a:r>
          </a:p>
          <a:p>
            <a:pPr>
              <a:spcAft>
                <a:spcPts val="1000"/>
              </a:spcAft>
            </a:pPr>
            <a:r>
              <a:rPr sz="1700"/>
              <a:t>The license itself is already financed - every raise dollar goes to operations and growth.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868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43434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/>
                        <a:t>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Amount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Working capital through the census ramp (payroll ahead of Medicare payment cycle)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$250,000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Growth: referral development, clinical staffing ahead of census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$150,000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Reserve (protects quarterly interest payments in any scenario)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$100,000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How noteholders are protected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Coverage: quarterly interest is $12,500 - covered ~5x by EBITDA from the second quarter onward, and covered by raise proceeds before that.</a:t>
            </a:r>
          </a:p>
          <a:p>
            <a:pPr>
              <a:spcAft>
                <a:spcPts val="1000"/>
              </a:spcAft>
            </a:pPr>
            <a:r>
              <a:rPr sz="1700"/>
              <a:t>The license itself is a hard asset: comparable Medicare+Medicaid licenses list at $400K+, and the federal enrollment freeze makes them scarcer every month.</a:t>
            </a:r>
          </a:p>
          <a:p>
            <a:pPr>
              <a:spcAft>
                <a:spcPts val="1000"/>
              </a:spcAft>
            </a:pPr>
            <a:r>
              <a:rPr sz="1700"/>
              <a:t>Stress-tested: at 85% of planned census with 10% higher payroll, the model still services all obligations.</a:t>
            </a:r>
          </a:p>
          <a:p>
            <a:pPr>
              <a:spcAft>
                <a:spcPts val="1000"/>
              </a:spcAft>
            </a:pPr>
            <a:r>
              <a:rPr sz="1700"/>
              <a:t>Aligned operators: the leadership team holds equity that vests only if the business performs; the founder personally guarantees the bank debt.</a:t>
            </a:r>
          </a:p>
          <a:p>
            <a:pPr>
              <a:spcAft>
                <a:spcPts val="1000"/>
              </a:spcAft>
            </a:pPr>
            <a:r>
              <a:rPr sz="1700"/>
              <a:t>Quarterly investor reporting: census, revenue, EBITDA, cash - the same dashboard management runs the business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License acquisition closing and first patients: within 30-60 days of funding.</a:t>
            </a:r>
          </a:p>
          <a:p>
            <a:pPr>
              <a:spcAft>
                <a:spcPts val="1000"/>
              </a:spcAft>
            </a:pPr>
            <a:r>
              <a:rPr sz="1700"/>
              <a:t>Census 24 by month 2 - the migrated panel arrives in the first weeks.</a:t>
            </a:r>
          </a:p>
          <a:p>
            <a:pPr>
              <a:spcAft>
                <a:spcPts val="1000"/>
              </a:spcAft>
            </a:pPr>
            <a:r>
              <a:rPr sz="1700"/>
              <a:t>Cash-flow positive operations: inside the first year (month-12 EBITDA run rate ~$45K/month).</a:t>
            </a:r>
          </a:p>
          <a:p>
            <a:pPr>
              <a:spcAft>
                <a:spcPts val="1000"/>
              </a:spcAft>
            </a:pPr>
            <a:r>
              <a:rPr sz="1700"/>
              <a:t>Note maturity in year 3: repaid from operating cash flow ($976K EBITDA year 3) or conventional refinance.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Risks, stated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Census ramp: if patients migrate slower than planned, margins compress - mitigated by the reserve, a working-capital facility, and management salary deferral commitments.</a:t>
            </a:r>
          </a:p>
          <a:p>
            <a:pPr>
              <a:spcAft>
                <a:spcPts val="1000"/>
              </a:spcAft>
            </a:pPr>
            <a:r>
              <a:rPr sz="1700"/>
              <a:t>Medicare payment timing: after a change of ownership, the first claims can be held 30-60 days - our cash plan assumes this.</a:t>
            </a:r>
          </a:p>
          <a:p>
            <a:pPr>
              <a:spcAft>
                <a:spcPts val="1000"/>
              </a:spcAft>
            </a:pPr>
            <a:r>
              <a:rPr sz="1700"/>
              <a:t>Regulatory: hospice is heavily regulated (surveys, cap limits, enrollment rules) - the team has operated under these rules for a decade.</a:t>
            </a:r>
          </a:p>
          <a:p>
            <a:pPr>
              <a:spcAft>
                <a:spcPts val="1000"/>
              </a:spcAft>
            </a:pPr>
            <a:r>
              <a:rPr sz="1700"/>
              <a:t>This is a private, illiquid investment - notes are not transferable and there is no public market.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$500,000 in notes; $250,000 already committed by the founding investors on the equity side.</a:t>
            </a:r>
          </a:p>
          <a:p>
            <a:pPr>
              <a:spcAft>
                <a:spcPts val="1000"/>
              </a:spcAft>
            </a:pPr>
            <a:r>
              <a:rPr sz="1700"/>
              <a:t>Minimum participation $50,000; documents ready for review with counsel.</a:t>
            </a:r>
          </a:p>
          <a:p>
            <a:pPr>
              <a:spcAft>
                <a:spcPts val="1000"/>
              </a:spcAft>
            </a:pPr>
            <a:r>
              <a:rPr sz="1700"/>
              <a:t>Next step: a call or lunch with Geoff, then the data room (full model, license diligence, team agreements).</a:t>
            </a:r>
          </a:p>
          <a:p>
            <a:pPr>
              <a:spcAft>
                <a:spcPts val="1000"/>
              </a:spcAft>
            </a:pPr>
            <a:r>
              <a:rPr sz="1700"/>
              <a:t>Geoff Schackmann  |  geoff@azaleahospice.com  |  480-495-5474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/>
              <a:t>Confidential. Not an offer to sell or a solicitation. Any offer is made only through definitive offering documents to accredited investors.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